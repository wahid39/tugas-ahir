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62" r:id="rId4"/>
    <p:sldId id="263" r:id="rId5"/>
    <p:sldId id="264" r:id="rId6"/>
    <p:sldId id="271" r:id="rId7"/>
    <p:sldId id="265" r:id="rId8"/>
    <p:sldId id="278" r:id="rId9"/>
    <p:sldId id="266" r:id="rId10"/>
    <p:sldId id="267" r:id="rId11"/>
    <p:sldId id="268" r:id="rId12"/>
    <p:sldId id="269" r:id="rId13"/>
    <p:sldId id="272" r:id="rId14"/>
    <p:sldId id="275" r:id="rId15"/>
    <p:sldId id="277" r:id="rId16"/>
    <p:sldId id="270" r:id="rId17"/>
    <p:sldId id="273" r:id="rId18"/>
    <p:sldId id="276"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1E6"/>
    <a:srgbClr val="F7BBDD"/>
    <a:srgbClr val="E5CB09"/>
    <a:srgbClr val="FCD9BC"/>
    <a:srgbClr val="FBD1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p:scale>
          <a:sx n="80" d="100"/>
          <a:sy n="80" d="100"/>
        </p:scale>
        <p:origin x="-1086"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CA3031E5-2408-4F06-919B-00D179DB22A6}" type="datetimeFigureOut">
              <a:rPr lang="en-US" smtClean="0"/>
              <a:t>1/9/2022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9DDF6F43-1A62-4A58-B823-6CABEC0CB473}"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CA3031E5-2408-4F06-919B-00D179DB22A6}" type="datetimeFigureOut">
              <a:rPr lang="en-US" smtClean="0"/>
              <a:t>1/9/2022</a:t>
            </a:fld>
            <a:endParaRPr lang="en-US"/>
          </a:p>
        </p:txBody>
      </p:sp>
      <p:sp>
        <p:nvSpPr>
          <p:cNvPr id="9" name="Slide Number Placeholder 8"/>
          <p:cNvSpPr>
            <a:spLocks noGrp="1"/>
          </p:cNvSpPr>
          <p:nvPr>
            <p:ph type="sldNum" sz="quarter" idx="15"/>
          </p:nvPr>
        </p:nvSpPr>
        <p:spPr/>
        <p:txBody>
          <a:bodyPr rtlCol="0"/>
          <a:lstStyle/>
          <a:p>
            <a:fld id="{9DDF6F43-1A62-4A58-B823-6CABEC0CB473}"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CA3031E5-2408-4F06-919B-00D179DB22A6}" type="datetimeFigureOut">
              <a:rPr lang="en-US" smtClean="0"/>
              <a:t>1/9/2022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9DDF6F43-1A62-4A58-B823-6CABEC0CB47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A3031E5-2408-4F06-919B-00D179DB22A6}" type="datetimeFigureOut">
              <a:rPr lang="en-US" smtClean="0"/>
              <a:t>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F6F43-1A62-4A58-B823-6CABEC0CB473}"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CA3031E5-2408-4F06-919B-00D179DB22A6}" type="datetimeFigureOut">
              <a:rPr lang="en-US" smtClean="0"/>
              <a:t>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DF6F43-1A62-4A58-B823-6CABEC0CB473}"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CA3031E5-2408-4F06-919B-00D179DB22A6}" type="datetimeFigureOut">
              <a:rPr lang="en-US" smtClean="0"/>
              <a:t>1/9/2022</a:t>
            </a:fld>
            <a:endParaRPr lang="en-US"/>
          </a:p>
        </p:txBody>
      </p:sp>
      <p:sp>
        <p:nvSpPr>
          <p:cNvPr id="7" name="Slide Number Placeholder 6"/>
          <p:cNvSpPr>
            <a:spLocks noGrp="1"/>
          </p:cNvSpPr>
          <p:nvPr>
            <p:ph type="sldNum" sz="quarter" idx="11"/>
          </p:nvPr>
        </p:nvSpPr>
        <p:spPr/>
        <p:txBody>
          <a:bodyPr rtlCol="0"/>
          <a:lstStyle/>
          <a:p>
            <a:fld id="{9DDF6F43-1A62-4A58-B823-6CABEC0CB473}"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3031E5-2408-4F06-919B-00D179DB22A6}" type="datetimeFigureOut">
              <a:rPr lang="en-US" smtClean="0"/>
              <a:t>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DF6F43-1A62-4A58-B823-6CABEC0CB47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CA3031E5-2408-4F06-919B-00D179DB22A6}" type="datetimeFigureOut">
              <a:rPr lang="en-US" smtClean="0"/>
              <a:t>1/9/2022</a:t>
            </a:fld>
            <a:endParaRPr lang="en-US"/>
          </a:p>
        </p:txBody>
      </p:sp>
      <p:sp>
        <p:nvSpPr>
          <p:cNvPr id="22" name="Slide Number Placeholder 21"/>
          <p:cNvSpPr>
            <a:spLocks noGrp="1"/>
          </p:cNvSpPr>
          <p:nvPr>
            <p:ph type="sldNum" sz="quarter" idx="15"/>
          </p:nvPr>
        </p:nvSpPr>
        <p:spPr/>
        <p:txBody>
          <a:bodyPr rtlCol="0"/>
          <a:lstStyle/>
          <a:p>
            <a:fld id="{9DDF6F43-1A62-4A58-B823-6CABEC0CB473}"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CA3031E5-2408-4F06-919B-00D179DB22A6}" type="datetimeFigureOut">
              <a:rPr lang="en-US" smtClean="0"/>
              <a:t>1/9/2022</a:t>
            </a:fld>
            <a:endParaRPr lang="en-US"/>
          </a:p>
        </p:txBody>
      </p:sp>
      <p:sp>
        <p:nvSpPr>
          <p:cNvPr id="18" name="Slide Number Placeholder 17"/>
          <p:cNvSpPr>
            <a:spLocks noGrp="1"/>
          </p:cNvSpPr>
          <p:nvPr>
            <p:ph type="sldNum" sz="quarter" idx="11"/>
          </p:nvPr>
        </p:nvSpPr>
        <p:spPr/>
        <p:txBody>
          <a:bodyPr rtlCol="0"/>
          <a:lstStyle/>
          <a:p>
            <a:fld id="{9DDF6F43-1A62-4A58-B823-6CABEC0CB473}"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3031E5-2408-4F06-919B-00D179DB22A6}" type="datetimeFigureOut">
              <a:rPr lang="en-US" smtClean="0"/>
              <a:t>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F6F43-1A62-4A58-B823-6CABEC0CB47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3031E5-2408-4F06-919B-00D179DB22A6}" type="datetimeFigureOut">
              <a:rPr lang="en-US" smtClean="0"/>
              <a:t>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F6F43-1A62-4A58-B823-6CABEC0CB47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CA3031E5-2408-4F06-919B-00D179DB22A6}" type="datetimeFigureOut">
              <a:rPr lang="en-US" smtClean="0"/>
              <a:t>1/9/2022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9DDF6F43-1A62-4A58-B823-6CABEC0CB47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EF1E6"/>
        </a:solidFill>
        <a:effectLst/>
      </p:bgPr>
    </p:bg>
    <p:spTree>
      <p:nvGrpSpPr>
        <p:cNvPr id="1" name=""/>
        <p:cNvGrpSpPr/>
        <p:nvPr/>
      </p:nvGrpSpPr>
      <p:grpSpPr>
        <a:xfrm>
          <a:off x="0" y="0"/>
          <a:ext cx="0" cy="0"/>
          <a:chOff x="0" y="0"/>
          <a:chExt cx="0" cy="0"/>
        </a:xfrm>
      </p:grpSpPr>
      <p:sp>
        <p:nvSpPr>
          <p:cNvPr id="6" name="TextBox 5"/>
          <p:cNvSpPr txBox="1"/>
          <p:nvPr/>
        </p:nvSpPr>
        <p:spPr>
          <a:xfrm>
            <a:off x="1258872" y="1944578"/>
            <a:ext cx="6819056" cy="1022652"/>
          </a:xfrm>
          <a:prstGeom prst="rect">
            <a:avLst/>
          </a:prstGeom>
          <a:noFill/>
        </p:spPr>
        <p:txBody>
          <a:bodyPr wrap="square" rtlCol="0">
            <a:spAutoFit/>
          </a:bodyPr>
          <a:lstStyle/>
          <a:p>
            <a:pPr algn="ctr">
              <a:lnSpc>
                <a:spcPct val="150000"/>
              </a:lnSpc>
            </a:pPr>
            <a:r>
              <a:rPr lang="en-US" sz="1400" b="1" dirty="0" smtClean="0">
                <a:latin typeface="Times New Roman" pitchFamily="18" charset="0"/>
                <a:cs typeface="Times New Roman" pitchFamily="18" charset="0"/>
              </a:rPr>
              <a:t>SISTEM PENDUKUNG PENGAMBILAN KEPUTUSAN PEMILIHAN GURU TERBAIK MENGGUNAKAN METODE SIMPLE ADDITIVE WEIGHTING</a:t>
            </a:r>
          </a:p>
          <a:p>
            <a:pPr algn="ctr">
              <a:lnSpc>
                <a:spcPct val="150000"/>
              </a:lnSpc>
            </a:pPr>
            <a:r>
              <a:rPr lang="en-US" sz="1400" b="1" dirty="0" smtClean="0">
                <a:latin typeface="Times New Roman" pitchFamily="18" charset="0"/>
                <a:cs typeface="Times New Roman" pitchFamily="18" charset="0"/>
              </a:rPr>
              <a:t>(STUDI KASUS : YAYASAN PENDIDIKAN TEKNOLOGI MUNA)</a:t>
            </a:r>
            <a:endParaRPr lang="en-US" sz="1400" b="1" dirty="0"/>
          </a:p>
        </p:txBody>
      </p:sp>
      <p:sp>
        <p:nvSpPr>
          <p:cNvPr id="7" name="TextBox 6"/>
          <p:cNvSpPr txBox="1"/>
          <p:nvPr/>
        </p:nvSpPr>
        <p:spPr>
          <a:xfrm>
            <a:off x="2084784" y="3467916"/>
            <a:ext cx="5112568" cy="954107"/>
          </a:xfrm>
          <a:prstGeom prst="rect">
            <a:avLst/>
          </a:prstGeom>
          <a:noFill/>
        </p:spPr>
        <p:txBody>
          <a:bodyPr wrap="square" rtlCol="0">
            <a:spAutoFit/>
          </a:bodyPr>
          <a:lstStyle/>
          <a:p>
            <a:pPr lvl="0" algn="ctr">
              <a:lnSpc>
                <a:spcPct val="150000"/>
              </a:lnSpc>
            </a:pPr>
            <a:r>
              <a:rPr lang="en-US" sz="1600" b="1" dirty="0" err="1" smtClean="0">
                <a:latin typeface="Times New Roman" pitchFamily="18" charset="0"/>
                <a:cs typeface="Times New Roman" pitchFamily="18" charset="0"/>
              </a:rPr>
              <a:t>Oleh</a:t>
            </a:r>
            <a:r>
              <a:rPr lang="en-US" sz="1600" b="1" dirty="0" smtClean="0">
                <a:latin typeface="Times New Roman" pitchFamily="18" charset="0"/>
                <a:cs typeface="Times New Roman" pitchFamily="18" charset="0"/>
              </a:rPr>
              <a:t> :</a:t>
            </a:r>
          </a:p>
          <a:p>
            <a:pPr lvl="0" algn="ctr"/>
            <a:r>
              <a:rPr lang="en-US" sz="1600" b="1" dirty="0" smtClean="0">
                <a:latin typeface="Times New Roman" pitchFamily="18" charset="0"/>
                <a:cs typeface="Times New Roman" pitchFamily="18" charset="0"/>
              </a:rPr>
              <a:t>ASNANI</a:t>
            </a:r>
          </a:p>
          <a:p>
            <a:pPr lvl="0" algn="ctr"/>
            <a:r>
              <a:rPr lang="en-US" sz="1600" b="1" dirty="0" smtClean="0">
                <a:latin typeface="Times New Roman" pitchFamily="18" charset="0"/>
                <a:cs typeface="Times New Roman" pitchFamily="18" charset="0"/>
              </a:rPr>
              <a:t>F1G117009</a:t>
            </a:r>
          </a:p>
        </p:txBody>
      </p:sp>
      <p:sp>
        <p:nvSpPr>
          <p:cNvPr id="11" name="Google Shape;493;p42"/>
          <p:cNvSpPr txBox="1">
            <a:spLocks/>
          </p:cNvSpPr>
          <p:nvPr/>
        </p:nvSpPr>
        <p:spPr>
          <a:xfrm>
            <a:off x="963639" y="4352639"/>
            <a:ext cx="7086600" cy="1721945"/>
          </a:xfrm>
          <a:prstGeom prst="rect">
            <a:avLst/>
          </a:prstGeom>
          <a:noFill/>
          <a:ln>
            <a:noFill/>
          </a:ln>
        </p:spPr>
        <p:txBody>
          <a:bodyPr spcFirstLastPara="1" wrap="square" lIns="91425" tIns="91425" rIns="91425" bIns="91425" anchor="b" anchorCtr="0">
            <a:noAutofit/>
          </a:bodyPr>
          <a:lstStyle/>
          <a:p>
            <a:pPr>
              <a:lnSpc>
                <a:spcPct val="150000"/>
              </a:lnSpc>
              <a:tabLst>
                <a:tab pos="1090613" algn="l"/>
                <a:tab pos="4857750" algn="l"/>
              </a:tabLst>
            </a:pPr>
            <a:r>
              <a:rPr lang="en-US" sz="1400" b="1" dirty="0" smtClean="0">
                <a:latin typeface="Times New Roman" pitchFamily="18" charset="0"/>
                <a:cs typeface="Times New Roman" pitchFamily="18" charset="0"/>
              </a:rPr>
              <a:t>         </a:t>
            </a:r>
            <a:r>
              <a:rPr lang="en-US" sz="1400" b="1" dirty="0" err="1" smtClean="0">
                <a:latin typeface="Times New Roman" pitchFamily="18" charset="0"/>
                <a:cs typeface="Times New Roman" pitchFamily="18" charset="0"/>
              </a:rPr>
              <a:t>Pembimbing</a:t>
            </a:r>
            <a:r>
              <a:rPr lang="en-US" sz="1400" b="1" dirty="0" smtClean="0">
                <a:latin typeface="Times New Roman" pitchFamily="18" charset="0"/>
                <a:cs typeface="Times New Roman" pitchFamily="18" charset="0"/>
              </a:rPr>
              <a:t> I,                                        	</a:t>
            </a:r>
            <a:r>
              <a:rPr lang="en-US" sz="1400" b="1" dirty="0" err="1" smtClean="0">
                <a:latin typeface="Times New Roman" pitchFamily="18" charset="0"/>
                <a:cs typeface="Times New Roman" pitchFamily="18" charset="0"/>
              </a:rPr>
              <a:t>Pembimbing</a:t>
            </a:r>
            <a:r>
              <a:rPr lang="en-US" sz="1400" b="1" dirty="0" smtClean="0">
                <a:latin typeface="Times New Roman" pitchFamily="18" charset="0"/>
                <a:cs typeface="Times New Roman" pitchFamily="18" charset="0"/>
              </a:rPr>
              <a:t> II,</a:t>
            </a:r>
            <a:endParaRPr lang="en-US" sz="1400" dirty="0" smtClean="0">
              <a:latin typeface="Times New Roman" pitchFamily="18" charset="0"/>
              <a:cs typeface="Times New Roman" pitchFamily="18" charset="0"/>
            </a:endParaRPr>
          </a:p>
          <a:p>
            <a:pPr>
              <a:lnSpc>
                <a:spcPct val="150000"/>
              </a:lnSpc>
            </a:pPr>
            <a:r>
              <a:rPr lang="en-US" sz="1400" b="1" dirty="0" smtClean="0">
                <a:latin typeface="Times New Roman" pitchFamily="18" charset="0"/>
                <a:cs typeface="Times New Roman" pitchFamily="18" charset="0"/>
              </a:rPr>
              <a:t> </a:t>
            </a:r>
            <a:endParaRPr lang="en-US" sz="1400" dirty="0" smtClean="0">
              <a:latin typeface="Times New Roman" pitchFamily="18" charset="0"/>
              <a:cs typeface="Times New Roman" pitchFamily="18" charset="0"/>
            </a:endParaRPr>
          </a:p>
          <a:p>
            <a:pPr>
              <a:tabLst>
                <a:tab pos="1090613" algn="l"/>
                <a:tab pos="4857750" algn="l"/>
              </a:tabLst>
            </a:pPr>
            <a:r>
              <a:rPr lang="en-US" sz="1400" b="1" u="sng" dirty="0" err="1" smtClean="0">
                <a:latin typeface="Times New Roman" pitchFamily="18" charset="0"/>
                <a:cs typeface="Times New Roman" pitchFamily="18" charset="0"/>
              </a:rPr>
              <a:t>Drs.La</a:t>
            </a:r>
            <a:r>
              <a:rPr lang="en-US" sz="1400" b="1" u="sng" dirty="0" smtClean="0">
                <a:latin typeface="Times New Roman" pitchFamily="18" charset="0"/>
                <a:cs typeface="Times New Roman" pitchFamily="18" charset="0"/>
              </a:rPr>
              <a:t> Ode </a:t>
            </a:r>
            <a:r>
              <a:rPr lang="en-US" sz="1400" b="1" u="sng" dirty="0" err="1" smtClean="0">
                <a:latin typeface="Times New Roman" pitchFamily="18" charset="0"/>
                <a:cs typeface="Times New Roman" pitchFamily="18" charset="0"/>
              </a:rPr>
              <a:t>Saidi</a:t>
            </a:r>
            <a:r>
              <a:rPr lang="en-US" sz="1400" b="1" u="sng" dirty="0" smtClean="0">
                <a:latin typeface="Times New Roman" pitchFamily="18" charset="0"/>
                <a:cs typeface="Times New Roman" pitchFamily="18" charset="0"/>
              </a:rPr>
              <a:t>, </a:t>
            </a:r>
            <a:r>
              <a:rPr lang="en-US" sz="1400" b="1" u="sng" dirty="0" err="1" smtClean="0">
                <a:latin typeface="Times New Roman" pitchFamily="18" charset="0"/>
                <a:cs typeface="Times New Roman" pitchFamily="18" charset="0"/>
              </a:rPr>
              <a:t>M.Kom</a:t>
            </a:r>
            <a:r>
              <a:rPr lang="en-US" sz="1400" b="1" dirty="0" smtClean="0">
                <a:latin typeface="Times New Roman" pitchFamily="18" charset="0"/>
                <a:cs typeface="Times New Roman" pitchFamily="18" charset="0"/>
              </a:rPr>
              <a:t>                                                        </a:t>
            </a:r>
            <a:r>
              <a:rPr lang="en-US" sz="1400" b="1" u="sng" dirty="0" err="1" smtClean="0">
                <a:latin typeface="Times New Roman" pitchFamily="18" charset="0"/>
                <a:cs typeface="Times New Roman" pitchFamily="18" charset="0"/>
              </a:rPr>
              <a:t>Jumadil</a:t>
            </a:r>
            <a:r>
              <a:rPr lang="en-US" sz="1400" b="1" u="sng" dirty="0" smtClean="0">
                <a:latin typeface="Times New Roman" pitchFamily="18" charset="0"/>
                <a:cs typeface="Times New Roman" pitchFamily="18" charset="0"/>
              </a:rPr>
              <a:t> </a:t>
            </a:r>
            <a:r>
              <a:rPr lang="en-US" sz="1400" b="1" u="sng" dirty="0" err="1" smtClean="0">
                <a:latin typeface="Times New Roman" pitchFamily="18" charset="0"/>
                <a:cs typeface="Times New Roman" pitchFamily="18" charset="0"/>
              </a:rPr>
              <a:t>Nangi</a:t>
            </a:r>
            <a:r>
              <a:rPr lang="en-US" sz="1400" b="1" u="sng" dirty="0" smtClean="0">
                <a:latin typeface="Times New Roman" pitchFamily="18" charset="0"/>
                <a:cs typeface="Times New Roman" pitchFamily="18" charset="0"/>
              </a:rPr>
              <a:t>, </a:t>
            </a:r>
            <a:r>
              <a:rPr lang="en-US" sz="1400" b="1" u="sng" dirty="0" err="1" smtClean="0">
                <a:latin typeface="Times New Roman" pitchFamily="18" charset="0"/>
                <a:cs typeface="Times New Roman" pitchFamily="18" charset="0"/>
              </a:rPr>
              <a:t>S.Kom</a:t>
            </a:r>
            <a:r>
              <a:rPr lang="en-US" sz="1400" b="1" u="sng" dirty="0" smtClean="0">
                <a:latin typeface="Times New Roman" pitchFamily="18" charset="0"/>
                <a:cs typeface="Times New Roman" pitchFamily="18" charset="0"/>
              </a:rPr>
              <a:t>., MT</a:t>
            </a:r>
            <a:endParaRPr lang="en-US" sz="1400" dirty="0" smtClean="0">
              <a:latin typeface="Times New Roman" pitchFamily="18" charset="0"/>
              <a:cs typeface="Times New Roman" pitchFamily="18" charset="0"/>
            </a:endParaRPr>
          </a:p>
          <a:p>
            <a:pPr>
              <a:tabLst>
                <a:tab pos="1090613" algn="l"/>
                <a:tab pos="4857750" algn="l"/>
              </a:tabLst>
            </a:pPr>
            <a:r>
              <a:rPr lang="en-US" sz="1400" b="1" dirty="0" smtClean="0">
                <a:latin typeface="Times New Roman" pitchFamily="18" charset="0"/>
                <a:cs typeface="Times New Roman" pitchFamily="18" charset="0"/>
              </a:rPr>
              <a:t>NIP.19621231 199512 1 001                                                      NIP. 19870206 201504 1 003</a:t>
            </a:r>
            <a:endParaRPr lang="en-US" sz="14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404664"/>
            <a:ext cx="2298377" cy="1516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81721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TextBox 1"/>
          <p:cNvSpPr txBox="1"/>
          <p:nvPr/>
        </p:nvSpPr>
        <p:spPr>
          <a:xfrm>
            <a:off x="2555776" y="2564904"/>
            <a:ext cx="3888432" cy="2219838"/>
          </a:xfrm>
          <a:prstGeom prst="rect">
            <a:avLst/>
          </a:prstGeom>
          <a:noFill/>
        </p:spPr>
        <p:txBody>
          <a:bodyPr wrap="square" rtlCol="0">
            <a:spAutoFit/>
          </a:bodyPr>
          <a:lstStyle/>
          <a:p>
            <a:pPr algn="ctr">
              <a:lnSpc>
                <a:spcPct val="150000"/>
              </a:lnSpc>
            </a:pPr>
            <a:r>
              <a:rPr lang="en-US" sz="3200" b="1" dirty="0">
                <a:latin typeface="Times New Roman" pitchFamily="18" charset="0"/>
                <a:cs typeface="Times New Roman" pitchFamily="18" charset="0"/>
              </a:rPr>
              <a:t>BAB I</a:t>
            </a:r>
          </a:p>
          <a:p>
            <a:pPr algn="ctr">
              <a:lnSpc>
                <a:spcPct val="150000"/>
              </a:lnSpc>
            </a:pPr>
            <a:r>
              <a:rPr lang="en-US" sz="3200" b="1" dirty="0">
                <a:latin typeface="Times New Roman" pitchFamily="18" charset="0"/>
                <a:cs typeface="Times New Roman" pitchFamily="18" charset="0"/>
              </a:rPr>
              <a:t>PENDAHULUAN</a:t>
            </a:r>
          </a:p>
          <a:p>
            <a:pPr>
              <a:lnSpc>
                <a:spcPct val="150000"/>
              </a:lnSpc>
            </a:pPr>
            <a:endParaRPr lang="en-US" sz="3200" dirty="0">
              <a:latin typeface="Times New Roman" pitchFamily="18" charset="0"/>
              <a:cs typeface="Times New Roman" pitchFamily="18" charset="0"/>
            </a:endParaRPr>
          </a:p>
        </p:txBody>
      </p:sp>
      <p:sp>
        <p:nvSpPr>
          <p:cNvPr id="3" name="Right Triangle 2"/>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379606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3" name="Right Triangle 2"/>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043608" y="2132856"/>
            <a:ext cx="7200800" cy="3416320"/>
          </a:xfrm>
          <a:prstGeom prst="rect">
            <a:avLst/>
          </a:prstGeom>
          <a:noFill/>
        </p:spPr>
        <p:txBody>
          <a:bodyPr wrap="square" rtlCol="0">
            <a:spAutoFit/>
          </a:bodyPr>
          <a:lstStyle/>
          <a:p>
            <a:pPr algn="just">
              <a:lnSpc>
                <a:spcPct val="150000"/>
              </a:lnSpc>
            </a:pPr>
            <a:r>
              <a:rPr lang="id-ID" sz="1600" dirty="0">
                <a:latin typeface="Times New Roman"/>
                <a:ea typeface="Calibri"/>
              </a:rPr>
              <a:t>Dalam upaya meningkatkan kualitas dan mutu pendidikan agar menghasilkan </a:t>
            </a:r>
            <a:r>
              <a:rPr lang="en-US" sz="1600" dirty="0" err="1" smtClean="0">
                <a:latin typeface="Times New Roman"/>
                <a:ea typeface="Calibri"/>
              </a:rPr>
              <a:t>generasi</a:t>
            </a:r>
            <a:r>
              <a:rPr lang="en-US" sz="1600" dirty="0" smtClean="0">
                <a:latin typeface="Times New Roman"/>
                <a:ea typeface="Calibri"/>
              </a:rPr>
              <a:t> </a:t>
            </a:r>
            <a:r>
              <a:rPr lang="en-US" sz="1600" dirty="0" err="1" smtClean="0">
                <a:latin typeface="Times New Roman"/>
                <a:ea typeface="Calibri"/>
              </a:rPr>
              <a:t>masa</a:t>
            </a:r>
            <a:r>
              <a:rPr lang="en-US" sz="1600" dirty="0" smtClean="0">
                <a:latin typeface="Times New Roman"/>
                <a:ea typeface="Calibri"/>
              </a:rPr>
              <a:t> </a:t>
            </a:r>
            <a:r>
              <a:rPr lang="en-US" sz="1600" dirty="0" err="1" smtClean="0">
                <a:latin typeface="Times New Roman"/>
                <a:ea typeface="Calibri"/>
              </a:rPr>
              <a:t>depan</a:t>
            </a:r>
            <a:r>
              <a:rPr lang="en-US" sz="1600" dirty="0" smtClean="0">
                <a:latin typeface="Times New Roman"/>
                <a:ea typeface="Calibri"/>
              </a:rPr>
              <a:t> yang </a:t>
            </a:r>
            <a:r>
              <a:rPr lang="en-US" sz="1600" dirty="0" err="1" smtClean="0">
                <a:latin typeface="Times New Roman"/>
                <a:ea typeface="Calibri"/>
              </a:rPr>
              <a:t>cerdas</a:t>
            </a:r>
            <a:r>
              <a:rPr lang="en-US" sz="1600" dirty="0" smtClean="0">
                <a:latin typeface="Times New Roman"/>
                <a:ea typeface="Calibri"/>
              </a:rPr>
              <a:t> </a:t>
            </a:r>
            <a:r>
              <a:rPr lang="en-US" sz="1600" dirty="0" err="1" smtClean="0">
                <a:latin typeface="Times New Roman"/>
                <a:ea typeface="Calibri"/>
              </a:rPr>
              <a:t>dan</a:t>
            </a:r>
            <a:r>
              <a:rPr lang="en-US" sz="1600" dirty="0" smtClean="0">
                <a:latin typeface="Times New Roman"/>
                <a:ea typeface="Calibri"/>
              </a:rPr>
              <a:t> </a:t>
            </a:r>
            <a:r>
              <a:rPr lang="en-US" sz="1600" dirty="0" err="1" smtClean="0">
                <a:latin typeface="Times New Roman"/>
                <a:ea typeface="Calibri"/>
              </a:rPr>
              <a:t>terampil</a:t>
            </a:r>
            <a:r>
              <a:rPr lang="id-ID" sz="1600" dirty="0" smtClean="0">
                <a:latin typeface="Times New Roman"/>
                <a:ea typeface="Calibri"/>
              </a:rPr>
              <a:t>, </a:t>
            </a:r>
            <a:r>
              <a:rPr lang="en-US" sz="1600" dirty="0" err="1" smtClean="0">
                <a:latin typeface="Times New Roman"/>
                <a:ea typeface="Calibri"/>
              </a:rPr>
              <a:t>yayasan</a:t>
            </a:r>
            <a:r>
              <a:rPr lang="en-US" sz="1600" dirty="0" smtClean="0">
                <a:latin typeface="Times New Roman"/>
                <a:ea typeface="Calibri"/>
              </a:rPr>
              <a:t> </a:t>
            </a:r>
            <a:r>
              <a:rPr lang="en-US" sz="1600" dirty="0" err="1" smtClean="0">
                <a:latin typeface="Times New Roman"/>
                <a:ea typeface="Calibri"/>
              </a:rPr>
              <a:t>pendidikan</a:t>
            </a:r>
            <a:r>
              <a:rPr lang="en-US" sz="1600" dirty="0" smtClean="0">
                <a:latin typeface="Times New Roman"/>
                <a:ea typeface="Calibri"/>
              </a:rPr>
              <a:t> </a:t>
            </a:r>
            <a:r>
              <a:rPr lang="en-US" sz="1600" dirty="0" err="1" smtClean="0">
                <a:latin typeface="Times New Roman"/>
                <a:ea typeface="Calibri"/>
              </a:rPr>
              <a:t>teknologi</a:t>
            </a:r>
            <a:r>
              <a:rPr lang="en-US" sz="1600" dirty="0" smtClean="0">
                <a:latin typeface="Times New Roman"/>
                <a:ea typeface="Calibri"/>
              </a:rPr>
              <a:t> </a:t>
            </a:r>
            <a:r>
              <a:rPr lang="en-US" sz="1600" dirty="0" err="1" smtClean="0">
                <a:latin typeface="Times New Roman"/>
                <a:ea typeface="Calibri"/>
              </a:rPr>
              <a:t>muna</a:t>
            </a:r>
            <a:r>
              <a:rPr lang="en-US" sz="1600" dirty="0" smtClean="0">
                <a:latin typeface="Times New Roman"/>
                <a:ea typeface="Calibri"/>
              </a:rPr>
              <a:t> </a:t>
            </a:r>
            <a:r>
              <a:rPr lang="en-US" sz="1600" dirty="0" err="1" smtClean="0">
                <a:latin typeface="Times New Roman"/>
                <a:ea typeface="Calibri"/>
              </a:rPr>
              <a:t>berusaha</a:t>
            </a:r>
            <a:r>
              <a:rPr lang="en-US" sz="1600" dirty="0" smtClean="0">
                <a:latin typeface="Times New Roman"/>
                <a:ea typeface="Calibri"/>
              </a:rPr>
              <a:t> </a:t>
            </a:r>
            <a:r>
              <a:rPr lang="en-US" sz="1600" dirty="0" err="1" smtClean="0">
                <a:latin typeface="Times New Roman"/>
                <a:ea typeface="Calibri"/>
              </a:rPr>
              <a:t>menyediakan</a:t>
            </a:r>
            <a:r>
              <a:rPr lang="en-US" sz="1600" dirty="0" smtClean="0">
                <a:latin typeface="Times New Roman"/>
                <a:ea typeface="Calibri"/>
              </a:rPr>
              <a:t> </a:t>
            </a:r>
            <a:r>
              <a:rPr lang="en-US" sz="1600" dirty="0" err="1" smtClean="0">
                <a:latin typeface="Times New Roman"/>
                <a:ea typeface="Calibri"/>
              </a:rPr>
              <a:t>tenaga</a:t>
            </a:r>
            <a:r>
              <a:rPr lang="en-US" sz="1600" dirty="0" smtClean="0">
                <a:latin typeface="Times New Roman"/>
                <a:ea typeface="Calibri"/>
              </a:rPr>
              <a:t> </a:t>
            </a:r>
            <a:r>
              <a:rPr lang="en-US" sz="1600" dirty="0" err="1" smtClean="0">
                <a:latin typeface="Times New Roman"/>
                <a:ea typeface="Calibri"/>
              </a:rPr>
              <a:t>pendidik</a:t>
            </a:r>
            <a:r>
              <a:rPr lang="en-US" sz="1600" dirty="0" smtClean="0">
                <a:latin typeface="Times New Roman"/>
                <a:ea typeface="Calibri"/>
              </a:rPr>
              <a:t> yang </a:t>
            </a:r>
            <a:r>
              <a:rPr lang="en-US" sz="1600" dirty="0" err="1" smtClean="0">
                <a:latin typeface="Times New Roman"/>
                <a:ea typeface="Calibri"/>
              </a:rPr>
              <a:t>baik</a:t>
            </a:r>
            <a:r>
              <a:rPr lang="en-US" sz="1600" dirty="0" smtClean="0">
                <a:latin typeface="Times New Roman"/>
                <a:ea typeface="Calibri"/>
              </a:rPr>
              <a:t> </a:t>
            </a:r>
            <a:r>
              <a:rPr lang="en-US" sz="1600" dirty="0" err="1" smtClean="0">
                <a:latin typeface="Times New Roman"/>
                <a:ea typeface="Calibri"/>
              </a:rPr>
              <a:t>dan</a:t>
            </a:r>
            <a:r>
              <a:rPr lang="en-US" sz="1600" dirty="0" smtClean="0">
                <a:latin typeface="Times New Roman"/>
                <a:ea typeface="Calibri"/>
              </a:rPr>
              <a:t> </a:t>
            </a:r>
            <a:r>
              <a:rPr lang="en-US" sz="1600" dirty="0" err="1" smtClean="0">
                <a:latin typeface="Times New Roman"/>
                <a:ea typeface="Calibri"/>
              </a:rPr>
              <a:t>terus</a:t>
            </a:r>
            <a:r>
              <a:rPr lang="en-US" sz="1600" dirty="0" smtClean="0">
                <a:latin typeface="Times New Roman"/>
                <a:ea typeface="Calibri"/>
              </a:rPr>
              <a:t> </a:t>
            </a:r>
            <a:r>
              <a:rPr lang="en-US" sz="1600" dirty="0" err="1" smtClean="0">
                <a:latin typeface="Times New Roman"/>
                <a:ea typeface="Calibri"/>
              </a:rPr>
              <a:t>memantau</a:t>
            </a:r>
            <a:r>
              <a:rPr lang="en-US" sz="1600" dirty="0" smtClean="0">
                <a:latin typeface="Times New Roman"/>
                <a:ea typeface="Calibri"/>
              </a:rPr>
              <a:t> </a:t>
            </a:r>
            <a:r>
              <a:rPr lang="en-US" sz="1600" dirty="0" err="1" smtClean="0">
                <a:latin typeface="Times New Roman"/>
                <a:ea typeface="Calibri"/>
              </a:rPr>
              <a:t>dengan</a:t>
            </a:r>
            <a:r>
              <a:rPr lang="en-US" sz="1600" dirty="0" smtClean="0">
                <a:latin typeface="Times New Roman"/>
                <a:ea typeface="Calibri"/>
              </a:rPr>
              <a:t> </a:t>
            </a:r>
            <a:r>
              <a:rPr lang="en-US" sz="1600" dirty="0" err="1" smtClean="0">
                <a:latin typeface="Times New Roman"/>
                <a:ea typeface="Calibri"/>
              </a:rPr>
              <a:t>melakukan</a:t>
            </a:r>
            <a:r>
              <a:rPr lang="en-US" sz="1600" dirty="0" smtClean="0">
                <a:latin typeface="Times New Roman"/>
                <a:ea typeface="Calibri"/>
              </a:rPr>
              <a:t> </a:t>
            </a:r>
            <a:r>
              <a:rPr lang="en-US" sz="1600" dirty="0" err="1" smtClean="0">
                <a:latin typeface="Times New Roman"/>
                <a:ea typeface="Calibri"/>
              </a:rPr>
              <a:t>penilaian</a:t>
            </a:r>
            <a:r>
              <a:rPr lang="en-US" sz="1600" dirty="0" smtClean="0">
                <a:latin typeface="Times New Roman"/>
                <a:ea typeface="Calibri"/>
              </a:rPr>
              <a:t> </a:t>
            </a:r>
            <a:r>
              <a:rPr lang="en-US" sz="1600" dirty="0" err="1" smtClean="0">
                <a:latin typeface="Times New Roman"/>
                <a:ea typeface="Calibri"/>
              </a:rPr>
              <a:t>kinerja</a:t>
            </a:r>
            <a:r>
              <a:rPr lang="en-US" sz="1600" dirty="0" smtClean="0">
                <a:latin typeface="Times New Roman"/>
                <a:ea typeface="Calibri"/>
              </a:rPr>
              <a:t> </a:t>
            </a:r>
            <a:r>
              <a:rPr lang="en-US" sz="1600" dirty="0" err="1" smtClean="0">
                <a:latin typeface="Times New Roman"/>
                <a:ea typeface="Calibri"/>
              </a:rPr>
              <a:t>terhadap</a:t>
            </a:r>
            <a:r>
              <a:rPr lang="en-US" sz="1600" dirty="0" smtClean="0">
                <a:latin typeface="Times New Roman"/>
                <a:ea typeface="Calibri"/>
              </a:rPr>
              <a:t> guru </a:t>
            </a:r>
            <a:r>
              <a:rPr lang="en-US" sz="1600" dirty="0" err="1" smtClean="0">
                <a:latin typeface="Times New Roman"/>
                <a:ea typeface="Calibri"/>
              </a:rPr>
              <a:t>untuk</a:t>
            </a:r>
            <a:r>
              <a:rPr lang="en-US" sz="1600" dirty="0" smtClean="0">
                <a:latin typeface="Times New Roman"/>
                <a:ea typeface="Calibri"/>
              </a:rPr>
              <a:t> </a:t>
            </a:r>
            <a:r>
              <a:rPr lang="en-US" sz="1600" dirty="0" err="1" smtClean="0">
                <a:latin typeface="Times New Roman"/>
                <a:ea typeface="Calibri"/>
              </a:rPr>
              <a:t>menjamin</a:t>
            </a:r>
            <a:r>
              <a:rPr lang="en-US" sz="1600" dirty="0" smtClean="0">
                <a:latin typeface="Times New Roman"/>
                <a:ea typeface="Calibri"/>
              </a:rPr>
              <a:t> </a:t>
            </a:r>
            <a:r>
              <a:rPr lang="en-US" sz="1600" dirty="0" err="1" smtClean="0">
                <a:latin typeface="Times New Roman"/>
                <a:ea typeface="Calibri"/>
              </a:rPr>
              <a:t>bahwa</a:t>
            </a:r>
            <a:r>
              <a:rPr lang="en-US" sz="1600" dirty="0" smtClean="0">
                <a:latin typeface="Times New Roman"/>
                <a:ea typeface="Calibri"/>
              </a:rPr>
              <a:t> </a:t>
            </a:r>
            <a:r>
              <a:rPr lang="en-US" sz="1600" dirty="0" err="1" smtClean="0">
                <a:latin typeface="Times New Roman"/>
                <a:ea typeface="Calibri"/>
              </a:rPr>
              <a:t>para</a:t>
            </a:r>
            <a:r>
              <a:rPr lang="en-US" sz="1600" dirty="0" smtClean="0">
                <a:latin typeface="Times New Roman"/>
                <a:ea typeface="Calibri"/>
              </a:rPr>
              <a:t> guru </a:t>
            </a:r>
            <a:r>
              <a:rPr lang="en-US" sz="1600" dirty="0" err="1" smtClean="0">
                <a:latin typeface="Times New Roman"/>
                <a:ea typeface="Calibri"/>
              </a:rPr>
              <a:t>menjalankan</a:t>
            </a:r>
            <a:r>
              <a:rPr lang="en-US" sz="1600" dirty="0" smtClean="0">
                <a:latin typeface="Times New Roman"/>
                <a:ea typeface="Calibri"/>
              </a:rPr>
              <a:t> </a:t>
            </a:r>
            <a:r>
              <a:rPr lang="en-US" sz="1600" dirty="0" err="1" smtClean="0">
                <a:latin typeface="Times New Roman"/>
                <a:ea typeface="Calibri"/>
              </a:rPr>
              <a:t>tugas</a:t>
            </a:r>
            <a:r>
              <a:rPr lang="en-US" sz="1600" dirty="0" smtClean="0">
                <a:latin typeface="Times New Roman"/>
                <a:ea typeface="Calibri"/>
              </a:rPr>
              <a:t> </a:t>
            </a:r>
            <a:r>
              <a:rPr lang="en-US" sz="1600" dirty="0" err="1" smtClean="0">
                <a:latin typeface="Times New Roman"/>
                <a:ea typeface="Calibri"/>
              </a:rPr>
              <a:t>dan</a:t>
            </a:r>
            <a:r>
              <a:rPr lang="en-US" sz="1600" dirty="0" smtClean="0">
                <a:latin typeface="Times New Roman"/>
                <a:ea typeface="Calibri"/>
              </a:rPr>
              <a:t> </a:t>
            </a:r>
            <a:r>
              <a:rPr lang="en-US" sz="1600" dirty="0" err="1" smtClean="0">
                <a:latin typeface="Times New Roman"/>
                <a:ea typeface="Calibri"/>
              </a:rPr>
              <a:t>tanggungjawabnya</a:t>
            </a:r>
            <a:r>
              <a:rPr lang="en-US" sz="1600" dirty="0" smtClean="0">
                <a:latin typeface="Times New Roman"/>
                <a:ea typeface="Calibri"/>
              </a:rPr>
              <a:t> </a:t>
            </a:r>
            <a:r>
              <a:rPr lang="en-US" sz="1600" dirty="0" err="1" smtClean="0">
                <a:latin typeface="Times New Roman"/>
                <a:ea typeface="Calibri"/>
              </a:rPr>
              <a:t>dengan</a:t>
            </a:r>
            <a:r>
              <a:rPr lang="en-US" sz="1600" dirty="0" smtClean="0">
                <a:latin typeface="Times New Roman"/>
                <a:ea typeface="Calibri"/>
              </a:rPr>
              <a:t> </a:t>
            </a:r>
            <a:r>
              <a:rPr lang="en-US" sz="1600" dirty="0" err="1" smtClean="0">
                <a:latin typeface="Times New Roman"/>
                <a:ea typeface="Calibri"/>
              </a:rPr>
              <a:t>baik</a:t>
            </a:r>
            <a:r>
              <a:rPr lang="en-US" sz="1600" dirty="0" smtClean="0">
                <a:latin typeface="Times New Roman"/>
                <a:ea typeface="Calibri"/>
              </a:rPr>
              <a:t>. </a:t>
            </a:r>
            <a:r>
              <a:rPr lang="en-US" sz="1600" dirty="0" err="1">
                <a:latin typeface="Times New Roman"/>
                <a:ea typeface="Calibri"/>
              </a:rPr>
              <a:t>Namun</a:t>
            </a:r>
            <a:r>
              <a:rPr lang="en-US" sz="1600" dirty="0">
                <a:latin typeface="Times New Roman"/>
                <a:ea typeface="Calibri"/>
              </a:rPr>
              <a:t> </a:t>
            </a:r>
            <a:r>
              <a:rPr lang="en-US" sz="1600" dirty="0" err="1" smtClean="0">
                <a:latin typeface="Times New Roman"/>
                <a:ea typeface="Calibri"/>
              </a:rPr>
              <a:t>dalam</a:t>
            </a:r>
            <a:r>
              <a:rPr lang="en-US" sz="1600" dirty="0" smtClean="0">
                <a:latin typeface="Times New Roman"/>
                <a:ea typeface="Calibri"/>
              </a:rPr>
              <a:t> </a:t>
            </a:r>
            <a:r>
              <a:rPr lang="en-US" sz="1600" dirty="0" err="1" smtClean="0">
                <a:latin typeface="Times New Roman"/>
                <a:ea typeface="Calibri"/>
              </a:rPr>
              <a:t>penilaian</a:t>
            </a:r>
            <a:r>
              <a:rPr lang="en-US" sz="1600" dirty="0" smtClean="0">
                <a:latin typeface="Times New Roman"/>
                <a:ea typeface="Calibri"/>
              </a:rPr>
              <a:t> </a:t>
            </a:r>
            <a:r>
              <a:rPr lang="en-US" sz="1600" dirty="0" err="1">
                <a:latin typeface="Times New Roman"/>
                <a:ea typeface="Calibri"/>
              </a:rPr>
              <a:t>tersebut</a:t>
            </a:r>
            <a:r>
              <a:rPr lang="en-US" sz="1600" dirty="0">
                <a:latin typeface="Times New Roman"/>
                <a:ea typeface="Calibri"/>
              </a:rPr>
              <a:t> </a:t>
            </a:r>
            <a:r>
              <a:rPr lang="en-US" sz="1600" dirty="0" err="1">
                <a:latin typeface="Times New Roman"/>
                <a:ea typeface="Calibri"/>
              </a:rPr>
              <a:t>belum</a:t>
            </a:r>
            <a:r>
              <a:rPr lang="en-US" sz="1600" dirty="0">
                <a:latin typeface="Times New Roman"/>
                <a:ea typeface="Calibri"/>
              </a:rPr>
              <a:t> </a:t>
            </a:r>
            <a:r>
              <a:rPr lang="en-US" sz="1600" dirty="0" err="1">
                <a:latin typeface="Times New Roman"/>
                <a:ea typeface="Calibri"/>
              </a:rPr>
              <a:t>dilaksanakan</a:t>
            </a:r>
            <a:r>
              <a:rPr lang="en-US" sz="1600" dirty="0">
                <a:latin typeface="Times New Roman"/>
                <a:ea typeface="Calibri"/>
              </a:rPr>
              <a:t> </a:t>
            </a:r>
            <a:r>
              <a:rPr lang="en-US" sz="1600" dirty="0" err="1">
                <a:latin typeface="Times New Roman"/>
                <a:ea typeface="Calibri"/>
              </a:rPr>
              <a:t>secara</a:t>
            </a:r>
            <a:r>
              <a:rPr lang="en-US" sz="1600" dirty="0">
                <a:latin typeface="Times New Roman"/>
                <a:ea typeface="Calibri"/>
              </a:rPr>
              <a:t> </a:t>
            </a:r>
            <a:r>
              <a:rPr lang="en-US" sz="1600" dirty="0" err="1">
                <a:latin typeface="Times New Roman"/>
                <a:ea typeface="Calibri"/>
              </a:rPr>
              <a:t>konsisten</a:t>
            </a:r>
            <a:r>
              <a:rPr lang="en-US" sz="1600" dirty="0">
                <a:latin typeface="Times New Roman"/>
                <a:ea typeface="Calibri"/>
              </a:rPr>
              <a:t> </a:t>
            </a:r>
            <a:r>
              <a:rPr lang="en-US" sz="1600" dirty="0" err="1">
                <a:latin typeface="Times New Roman"/>
                <a:ea typeface="Calibri"/>
              </a:rPr>
              <a:t>dan</a:t>
            </a:r>
            <a:r>
              <a:rPr lang="en-US" sz="1600" dirty="0">
                <a:latin typeface="Times New Roman"/>
                <a:ea typeface="Calibri"/>
              </a:rPr>
              <a:t> </a:t>
            </a:r>
            <a:r>
              <a:rPr lang="en-US" sz="1600" dirty="0" err="1">
                <a:latin typeface="Times New Roman"/>
                <a:ea typeface="Calibri"/>
              </a:rPr>
              <a:t>belum</a:t>
            </a:r>
            <a:r>
              <a:rPr lang="en-US" sz="1600" dirty="0">
                <a:latin typeface="Times New Roman"/>
                <a:ea typeface="Calibri"/>
              </a:rPr>
              <a:t> </a:t>
            </a:r>
            <a:r>
              <a:rPr lang="en-US" sz="1600" dirty="0" err="1" smtClean="0">
                <a:latin typeface="Times New Roman"/>
                <a:ea typeface="Calibri"/>
              </a:rPr>
              <a:t>terstruktur</a:t>
            </a:r>
            <a:r>
              <a:rPr lang="en-US" sz="1600" dirty="0" smtClean="0">
                <a:latin typeface="Times New Roman"/>
                <a:ea typeface="Calibri"/>
              </a:rPr>
              <a:t>. </a:t>
            </a:r>
            <a:r>
              <a:rPr lang="en-US" sz="1600" dirty="0" err="1" smtClean="0">
                <a:latin typeface="Times New Roman" pitchFamily="18" charset="0"/>
                <a:cs typeface="Times New Roman" pitchFamily="18" charset="0"/>
              </a:rPr>
              <a:t>Untuk</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itu</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peneliti</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ingin</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membuat</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sebuah</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sistem</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pendukung</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pengambilan</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keputusan</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pemilihan</a:t>
            </a:r>
            <a:r>
              <a:rPr lang="en-US" sz="1600" dirty="0" smtClean="0">
                <a:latin typeface="Times New Roman" pitchFamily="18" charset="0"/>
                <a:cs typeface="Times New Roman" pitchFamily="18" charset="0"/>
              </a:rPr>
              <a:t> guru </a:t>
            </a:r>
            <a:r>
              <a:rPr lang="en-US" sz="1600" dirty="0" err="1" smtClean="0">
                <a:latin typeface="Times New Roman" pitchFamily="18" charset="0"/>
                <a:cs typeface="Times New Roman" pitchFamily="18" charset="0"/>
              </a:rPr>
              <a:t>terbaik</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guna</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untuk</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mempermudah</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penilaian</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atas</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kerja</a:t>
            </a:r>
            <a:r>
              <a:rPr lang="en-US" sz="1600" dirty="0" smtClean="0">
                <a:latin typeface="Times New Roman" pitchFamily="18" charset="0"/>
                <a:cs typeface="Times New Roman" pitchFamily="18" charset="0"/>
              </a:rPr>
              <a:t> guru </a:t>
            </a:r>
            <a:r>
              <a:rPr lang="en-US" sz="1600" dirty="0" err="1" smtClean="0">
                <a:latin typeface="Times New Roman" pitchFamily="18" charset="0"/>
                <a:cs typeface="Times New Roman" pitchFamily="18" charset="0"/>
              </a:rPr>
              <a:t>dan</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dapat</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memungkinkan</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untuk</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para</a:t>
            </a:r>
            <a:r>
              <a:rPr lang="en-US" sz="1600" dirty="0" smtClean="0">
                <a:latin typeface="Times New Roman" pitchFamily="18" charset="0"/>
                <a:cs typeface="Times New Roman" pitchFamily="18" charset="0"/>
              </a:rPr>
              <a:t> guru agar </a:t>
            </a:r>
            <a:r>
              <a:rPr lang="en-US" sz="1600" dirty="0" err="1" smtClean="0">
                <a:latin typeface="Times New Roman" pitchFamily="18" charset="0"/>
                <a:cs typeface="Times New Roman" pitchFamily="18" charset="0"/>
              </a:rPr>
              <a:t>terus</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meningkatkan</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kinerjanya</a:t>
            </a:r>
            <a:r>
              <a:rPr lang="en-US" sz="1600" dirty="0" smtClean="0">
                <a:latin typeface="Times New Roman" pitchFamily="18" charset="0"/>
                <a:cs typeface="Times New Roman" pitchFamily="18" charset="0"/>
              </a:rPr>
              <a:t>. </a:t>
            </a:r>
            <a:endParaRPr lang="en-US" sz="1600" dirty="0">
              <a:latin typeface="Times New Roman" pitchFamily="18" charset="0"/>
              <a:cs typeface="Times New Roman" pitchFamily="18" charset="0"/>
            </a:endParaRPr>
          </a:p>
        </p:txBody>
      </p:sp>
      <p:sp>
        <p:nvSpPr>
          <p:cNvPr id="6" name="Horizontal Scroll 5"/>
          <p:cNvSpPr/>
          <p:nvPr/>
        </p:nvSpPr>
        <p:spPr>
          <a:xfrm>
            <a:off x="2987824" y="761634"/>
            <a:ext cx="3600400" cy="830672"/>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r>
              <a:rPr lang="en-US" b="1" dirty="0">
                <a:solidFill>
                  <a:prstClr val="black"/>
                </a:solidFill>
                <a:latin typeface="Times New Roman" pitchFamily="18" charset="0"/>
                <a:cs typeface="Times New Roman" pitchFamily="18" charset="0"/>
              </a:rPr>
              <a:t>LATAR </a:t>
            </a:r>
            <a:r>
              <a:rPr lang="en-US" b="1" dirty="0" smtClean="0">
                <a:solidFill>
                  <a:prstClr val="black"/>
                </a:solidFill>
                <a:latin typeface="Times New Roman" pitchFamily="18" charset="0"/>
                <a:cs typeface="Times New Roman" pitchFamily="18" charset="0"/>
              </a:rPr>
              <a:t>BELAKANG</a:t>
            </a:r>
            <a:endParaRPr lang="en-US" b="1" dirty="0">
              <a:solidFill>
                <a:prstClr val="black"/>
              </a:solidFill>
              <a:latin typeface="Times New Roman" pitchFamily="18" charset="0"/>
              <a:cs typeface="Times New Roman" pitchFamily="18" charset="0"/>
            </a:endParaRPr>
          </a:p>
        </p:txBody>
      </p:sp>
    </p:spTree>
    <p:extLst>
      <p:ext uri="{BB962C8B-B14F-4D97-AF65-F5344CB8AC3E}">
        <p14:creationId xmlns:p14="http://schemas.microsoft.com/office/powerpoint/2010/main" val="14647758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Horizontal Scroll 1"/>
          <p:cNvSpPr/>
          <p:nvPr/>
        </p:nvSpPr>
        <p:spPr>
          <a:xfrm>
            <a:off x="3059832" y="692696"/>
            <a:ext cx="3312368" cy="864096"/>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Times New Roman" pitchFamily="18" charset="0"/>
                <a:cs typeface="Times New Roman" pitchFamily="18" charset="0"/>
              </a:rPr>
              <a:t>RUMUSAN MASALAH</a:t>
            </a:r>
            <a:endParaRPr lang="en-US" b="1" dirty="0">
              <a:solidFill>
                <a:schemeClr val="tx1"/>
              </a:solidFill>
              <a:latin typeface="Times New Roman" pitchFamily="18" charset="0"/>
              <a:cs typeface="Times New Roman" pitchFamily="18" charset="0"/>
            </a:endParaRPr>
          </a:p>
        </p:txBody>
      </p:sp>
      <p:sp>
        <p:nvSpPr>
          <p:cNvPr id="3" name="TextBox 2"/>
          <p:cNvSpPr txBox="1"/>
          <p:nvPr/>
        </p:nvSpPr>
        <p:spPr>
          <a:xfrm>
            <a:off x="1187624" y="1844824"/>
            <a:ext cx="6984776" cy="1338828"/>
          </a:xfrm>
          <a:prstGeom prst="rect">
            <a:avLst/>
          </a:prstGeom>
          <a:noFill/>
        </p:spPr>
        <p:txBody>
          <a:bodyPr wrap="square" rtlCol="0">
            <a:spAutoFit/>
          </a:bodyPr>
          <a:lstStyle/>
          <a:p>
            <a:pPr algn="just">
              <a:lnSpc>
                <a:spcPct val="150000"/>
              </a:lnSpc>
            </a:pPr>
            <a:r>
              <a:rPr lang="id-ID" dirty="0" smtClean="0">
                <a:latin typeface="Times New Roman" pitchFamily="18" charset="0"/>
                <a:cs typeface="Times New Roman" pitchFamily="18" charset="0"/>
              </a:rPr>
              <a:t>Bagimana membuat </a:t>
            </a:r>
            <a:r>
              <a:rPr lang="id-ID" dirty="0">
                <a:latin typeface="Times New Roman" pitchFamily="18" charset="0"/>
                <a:cs typeface="Times New Roman" pitchFamily="18" charset="0"/>
              </a:rPr>
              <a:t>sebuah sistem pendukung pengambilan keputusan untuk pemilihan </a:t>
            </a:r>
            <a:r>
              <a:rPr lang="en-US" dirty="0">
                <a:latin typeface="Times New Roman" pitchFamily="18" charset="0"/>
                <a:cs typeface="Times New Roman" pitchFamily="18" charset="0"/>
              </a:rPr>
              <a:t>g</a:t>
            </a:r>
            <a:r>
              <a:rPr lang="id-ID" dirty="0">
                <a:latin typeface="Times New Roman" pitchFamily="18" charset="0"/>
                <a:cs typeface="Times New Roman" pitchFamily="18" charset="0"/>
              </a:rPr>
              <a:t>uru terbaik dengan metode </a:t>
            </a:r>
            <a:r>
              <a:rPr lang="id-ID" i="1" dirty="0">
                <a:latin typeface="Times New Roman" pitchFamily="18" charset="0"/>
                <a:cs typeface="Times New Roman" pitchFamily="18" charset="0"/>
              </a:rPr>
              <a:t>Simple Additive Weighting</a:t>
            </a:r>
            <a:r>
              <a:rPr lang="id-ID" dirty="0">
                <a:latin typeface="Times New Roman" pitchFamily="18" charset="0"/>
                <a:cs typeface="Times New Roman" pitchFamily="18" charset="0"/>
              </a:rPr>
              <a:t> (SAW). </a:t>
            </a:r>
            <a:endParaRPr lang="en-US" dirty="0">
              <a:latin typeface="Times New Roman" pitchFamily="18" charset="0"/>
              <a:cs typeface="Times New Roman" pitchFamily="18" charset="0"/>
            </a:endParaRPr>
          </a:p>
        </p:txBody>
      </p:sp>
      <p:sp>
        <p:nvSpPr>
          <p:cNvPr id="4" name="Horizontal Scroll 3"/>
          <p:cNvSpPr/>
          <p:nvPr/>
        </p:nvSpPr>
        <p:spPr>
          <a:xfrm>
            <a:off x="3023828" y="3433592"/>
            <a:ext cx="3312368" cy="864096"/>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Times New Roman" pitchFamily="18" charset="0"/>
                <a:cs typeface="Times New Roman" pitchFamily="18" charset="0"/>
              </a:rPr>
              <a:t>TUJUAN PENELITIAN</a:t>
            </a:r>
            <a:endParaRPr lang="en-US" b="1" dirty="0">
              <a:solidFill>
                <a:schemeClr val="tx1"/>
              </a:solidFill>
              <a:latin typeface="Times New Roman" pitchFamily="18" charset="0"/>
              <a:cs typeface="Times New Roman" pitchFamily="18" charset="0"/>
            </a:endParaRPr>
          </a:p>
        </p:txBody>
      </p:sp>
      <p:sp>
        <p:nvSpPr>
          <p:cNvPr id="5" name="TextBox 4"/>
          <p:cNvSpPr txBox="1"/>
          <p:nvPr/>
        </p:nvSpPr>
        <p:spPr>
          <a:xfrm>
            <a:off x="1187623" y="4789618"/>
            <a:ext cx="6840761" cy="1200329"/>
          </a:xfrm>
          <a:prstGeom prst="rect">
            <a:avLst/>
          </a:prstGeom>
          <a:noFill/>
        </p:spPr>
        <p:txBody>
          <a:bodyPr wrap="square" rtlCol="0">
            <a:spAutoFit/>
          </a:bodyPr>
          <a:lstStyle/>
          <a:p>
            <a:pPr algn="just">
              <a:lnSpc>
                <a:spcPct val="150000"/>
              </a:lnSpc>
            </a:pPr>
            <a:r>
              <a:rPr lang="en-US" dirty="0" err="1" smtClean="0">
                <a:latin typeface="Times New Roman" pitchFamily="18" charset="0"/>
                <a:cs typeface="Times New Roman" pitchFamily="18" charset="0"/>
              </a:rPr>
              <a:t>Untuk</a:t>
            </a:r>
            <a:r>
              <a:rPr lang="en-US" dirty="0" smtClean="0">
                <a:latin typeface="Times New Roman" pitchFamily="18" charset="0"/>
                <a:cs typeface="Times New Roman" pitchFamily="18" charset="0"/>
              </a:rPr>
              <a:t> </a:t>
            </a:r>
            <a:r>
              <a:rPr lang="id-ID" dirty="0" smtClean="0">
                <a:latin typeface="Times New Roman" pitchFamily="18" charset="0"/>
                <a:cs typeface="Times New Roman" pitchFamily="18" charset="0"/>
              </a:rPr>
              <a:t>menghasilkan </a:t>
            </a:r>
            <a:r>
              <a:rPr lang="id-ID" dirty="0">
                <a:latin typeface="Times New Roman" pitchFamily="18" charset="0"/>
                <a:cs typeface="Times New Roman" pitchFamily="18" charset="0"/>
              </a:rPr>
              <a:t>sebuah sistem pendukung pengambilan keputusan pemilihan guru terbaik</a:t>
            </a:r>
            <a:r>
              <a:rPr lang="en-US" dirty="0">
                <a:latin typeface="Times New Roman" pitchFamily="18" charset="0"/>
                <a:cs typeface="Times New Roman" pitchFamily="18" charset="0"/>
              </a:rPr>
              <a:t> di </a:t>
            </a:r>
            <a:r>
              <a:rPr lang="en-US" dirty="0" err="1">
                <a:latin typeface="Times New Roman" pitchFamily="18" charset="0"/>
                <a:cs typeface="Times New Roman" pitchFamily="18" charset="0"/>
              </a:rPr>
              <a:t>Yayasan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Pendidikan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Teknologi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Muna</a:t>
            </a:r>
            <a:r>
              <a:rPr lang="id-ID"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p>
        </p:txBody>
      </p:sp>
      <p:sp>
        <p:nvSpPr>
          <p:cNvPr id="6" name="Right Triangle 5"/>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27827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Horizontal Scroll 1"/>
          <p:cNvSpPr/>
          <p:nvPr/>
        </p:nvSpPr>
        <p:spPr>
          <a:xfrm>
            <a:off x="2944541" y="696433"/>
            <a:ext cx="3240360" cy="792088"/>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Times New Roman" pitchFamily="18" charset="0"/>
                <a:cs typeface="Times New Roman" pitchFamily="18" charset="0"/>
              </a:rPr>
              <a:t>MANFAAT PENELITIAN</a:t>
            </a:r>
            <a:endParaRPr lang="en-US" b="1" dirty="0">
              <a:solidFill>
                <a:schemeClr val="tx1"/>
              </a:solidFill>
              <a:latin typeface="Times New Roman" pitchFamily="18" charset="0"/>
              <a:cs typeface="Times New Roman" pitchFamily="18" charset="0"/>
            </a:endParaRPr>
          </a:p>
        </p:txBody>
      </p:sp>
      <p:sp>
        <p:nvSpPr>
          <p:cNvPr id="3" name="TextBox 2"/>
          <p:cNvSpPr txBox="1"/>
          <p:nvPr/>
        </p:nvSpPr>
        <p:spPr>
          <a:xfrm>
            <a:off x="712293" y="1916832"/>
            <a:ext cx="7704856" cy="4108817"/>
          </a:xfrm>
          <a:prstGeom prst="rect">
            <a:avLst/>
          </a:prstGeom>
          <a:noFill/>
        </p:spPr>
        <p:txBody>
          <a:bodyPr wrap="square" rtlCol="0">
            <a:spAutoFit/>
          </a:bodyPr>
          <a:lstStyle/>
          <a:p>
            <a:pPr marL="342900" lvl="0" indent="-342900" algn="just">
              <a:lnSpc>
                <a:spcPct val="150000"/>
              </a:lnSpc>
              <a:buFont typeface="+mj-lt"/>
              <a:buAutoNum type="arabicParenR"/>
            </a:pPr>
            <a:r>
              <a:rPr lang="en-US" dirty="0" err="1">
                <a:latin typeface="Times New Roman" pitchFamily="18" charset="0"/>
                <a:cs typeface="Times New Roman" pitchFamily="18" charset="0"/>
              </a:rPr>
              <a:t>Untuk</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Yayasan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diharapkan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dapat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membantu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untuk</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meningkatkan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mutu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pembelajaran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sekolah</a:t>
            </a:r>
            <a:r>
              <a:rPr lang="en-US" dirty="0">
                <a:latin typeface="Times New Roman" pitchFamily="18" charset="0"/>
                <a:cs typeface="Times New Roman" pitchFamily="18" charset="0"/>
              </a:rPr>
              <a:t> di </a:t>
            </a:r>
            <a:r>
              <a:rPr lang="en-US" dirty="0" err="1">
                <a:latin typeface="Times New Roman" pitchFamily="18" charset="0"/>
                <a:cs typeface="Times New Roman" pitchFamily="18" charset="0"/>
              </a:rPr>
              <a:t>bawah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naungan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Yayasan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tersebut</a:t>
            </a:r>
            <a:r>
              <a:rPr lang="en-US" dirty="0">
                <a:latin typeface="Times New Roman" pitchFamily="18" charset="0"/>
                <a:cs typeface="Times New Roman" pitchFamily="18" charset="0"/>
              </a:rPr>
              <a:t>.</a:t>
            </a:r>
          </a:p>
          <a:p>
            <a:pPr marL="342900" lvl="0" indent="-342900" algn="just">
              <a:lnSpc>
                <a:spcPct val="150000"/>
              </a:lnSpc>
              <a:buFont typeface="+mj-lt"/>
              <a:buAutoNum type="arabicParenR"/>
            </a:pPr>
            <a:r>
              <a:rPr lang="en-US" dirty="0" err="1">
                <a:latin typeface="Times New Roman" pitchFamily="18" charset="0"/>
                <a:cs typeface="Times New Roman" pitchFamily="18" charset="0"/>
              </a:rPr>
              <a:t>Untuk</a:t>
            </a:r>
            <a:r>
              <a:rPr lang="en-US" dirty="0">
                <a:latin typeface="Times New Roman" pitchFamily="18" charset="0"/>
                <a:cs typeface="Times New Roman" pitchFamily="18" charset="0"/>
              </a:rPr>
              <a:t> Guru, </a:t>
            </a:r>
            <a:r>
              <a:rPr lang="en-US" dirty="0" err="1">
                <a:latin typeface="Times New Roman" pitchFamily="18" charset="0"/>
                <a:cs typeface="Times New Roman" pitchFamily="18" charset="0"/>
              </a:rPr>
              <a:t>diharapkan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dapat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membantu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meningkatkan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etos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kerja</a:t>
            </a:r>
            <a:r>
              <a:rPr lang="en-US" dirty="0">
                <a:latin typeface="Times New Roman" pitchFamily="18" charset="0"/>
                <a:cs typeface="Times New Roman" pitchFamily="18" charset="0"/>
              </a:rPr>
              <a:t> guru </a:t>
            </a:r>
            <a:r>
              <a:rPr lang="en-US" dirty="0" err="1">
                <a:latin typeface="Times New Roman" pitchFamily="18" charset="0"/>
                <a:cs typeface="Times New Roman" pitchFamily="18" charset="0"/>
              </a:rPr>
              <a:t>dan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dapat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memberikan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motivasi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atau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dorongan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untuk</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terus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mengembangkan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metode</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pembelajaran</a:t>
            </a:r>
            <a:r>
              <a:rPr lang="en-US" dirty="0">
                <a:latin typeface="Times New Roman" pitchFamily="18" charset="0"/>
                <a:cs typeface="Times New Roman" pitchFamily="18" charset="0"/>
              </a:rPr>
              <a:t> agar </a:t>
            </a:r>
            <a:r>
              <a:rPr lang="en-US" dirty="0" err="1">
                <a:latin typeface="Times New Roman" pitchFamily="18" charset="0"/>
                <a:cs typeface="Times New Roman" pitchFamily="18" charset="0"/>
              </a:rPr>
              <a:t>lebih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baik</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lagi</a:t>
            </a:r>
            <a:r>
              <a:rPr lang="en-US" dirty="0">
                <a:latin typeface="Times New Roman" pitchFamily="18" charset="0"/>
                <a:cs typeface="Times New Roman" pitchFamily="18" charset="0"/>
              </a:rPr>
              <a:t>.</a:t>
            </a:r>
          </a:p>
          <a:p>
            <a:pPr marL="342900" lvl="0" indent="-342900" algn="just">
              <a:lnSpc>
                <a:spcPct val="150000"/>
              </a:lnSpc>
              <a:buFont typeface="+mj-lt"/>
              <a:buAutoNum type="arabicParenR"/>
            </a:pPr>
            <a:r>
              <a:rPr lang="en-US" dirty="0" err="1">
                <a:latin typeface="Times New Roman" pitchFamily="18" charset="0"/>
                <a:cs typeface="Times New Roman" pitchFamily="18" charset="0"/>
              </a:rPr>
              <a:t>Untuk</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penulis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atau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peneliti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diharapkan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dapat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memperdalam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ilmu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pengetahuan</a:t>
            </a:r>
            <a:r>
              <a:rPr lang="en-US" dirty="0">
                <a:latin typeface="Times New Roman" pitchFamily="18" charset="0"/>
                <a:cs typeface="Times New Roman" pitchFamily="18" charset="0"/>
              </a:rPr>
              <a:t> yang </a:t>
            </a:r>
            <a:r>
              <a:rPr lang="en-US" dirty="0" err="1">
                <a:latin typeface="Times New Roman" pitchFamily="18" charset="0"/>
                <a:cs typeface="Times New Roman" pitchFamily="18" charset="0"/>
              </a:rPr>
              <a:t>telah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dipelajari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selama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masa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perkuliahan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dapat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menjadi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acuan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atau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pertimbangan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bagi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peneliti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selanjutnya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khususnya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penelitian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tentang</a:t>
            </a:r>
            <a:r>
              <a:rPr lang="en-US" dirty="0">
                <a:latin typeface="Times New Roman" pitchFamily="18" charset="0"/>
                <a:cs typeface="Times New Roman" pitchFamily="18" charset="0"/>
              </a:rPr>
              <a:t> system </a:t>
            </a:r>
            <a:r>
              <a:rPr lang="en-US" dirty="0" err="1">
                <a:latin typeface="Times New Roman" pitchFamily="18" charset="0"/>
                <a:cs typeface="Times New Roman" pitchFamily="18" charset="0"/>
              </a:rPr>
              <a:t>pendukung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keputusan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pemilihan</a:t>
            </a:r>
            <a:r>
              <a:rPr lang="en-US" dirty="0">
                <a:latin typeface="Times New Roman" pitchFamily="18" charset="0"/>
                <a:cs typeface="Times New Roman" pitchFamily="18" charset="0"/>
              </a:rPr>
              <a:t> guru </a:t>
            </a:r>
            <a:r>
              <a:rPr lang="en-US" dirty="0" err="1">
                <a:latin typeface="Times New Roman" pitchFamily="18" charset="0"/>
                <a:cs typeface="Times New Roman" pitchFamily="18" charset="0"/>
              </a:rPr>
              <a:t>terbaik</a:t>
            </a:r>
            <a:r>
              <a:rPr lang="en-US" dirty="0">
                <a:latin typeface="Times New Roman" pitchFamily="18" charset="0"/>
                <a:cs typeface="Times New Roman" pitchFamily="18" charset="0"/>
              </a:rPr>
              <a:t>. </a:t>
            </a:r>
          </a:p>
          <a:p>
            <a:endParaRPr lang="en-US" dirty="0"/>
          </a:p>
        </p:txBody>
      </p:sp>
      <p:sp>
        <p:nvSpPr>
          <p:cNvPr id="4" name="Right Triangle 3"/>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30510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TextBox 1"/>
          <p:cNvSpPr txBox="1"/>
          <p:nvPr/>
        </p:nvSpPr>
        <p:spPr>
          <a:xfrm>
            <a:off x="1115616" y="1628800"/>
            <a:ext cx="7272808" cy="4662815"/>
          </a:xfrm>
          <a:prstGeom prst="rect">
            <a:avLst/>
          </a:prstGeom>
          <a:noFill/>
        </p:spPr>
        <p:txBody>
          <a:bodyPr wrap="square" rtlCol="0">
            <a:spAutoFit/>
          </a:bodyPr>
          <a:lstStyle/>
          <a:p>
            <a:pPr marL="342900" indent="-342900" algn="just">
              <a:lnSpc>
                <a:spcPct val="150000"/>
              </a:lnSpc>
              <a:buFont typeface="+mj-lt"/>
              <a:buAutoNum type="arabicParenR"/>
            </a:pPr>
            <a:r>
              <a:rPr lang="id-ID" dirty="0" smtClean="0">
                <a:latin typeface="Times New Roman" pitchFamily="18" charset="0"/>
                <a:cs typeface="Times New Roman" pitchFamily="18" charset="0"/>
              </a:rPr>
              <a:t>Data yang digunakan terbatas pada data guru yang mengajar pada </a:t>
            </a:r>
            <a:r>
              <a:rPr lang="id-ID" dirty="0">
                <a:latin typeface="Times New Roman" pitchFamily="18" charset="0"/>
                <a:cs typeface="Times New Roman" pitchFamily="18" charset="0"/>
              </a:rPr>
              <a:t>Yayasan Pendidikan Teknologi </a:t>
            </a:r>
            <a:r>
              <a:rPr lang="id-ID" dirty="0" smtClean="0">
                <a:latin typeface="Times New Roman" pitchFamily="18" charset="0"/>
                <a:cs typeface="Times New Roman" pitchFamily="18" charset="0"/>
              </a:rPr>
              <a:t>Muna</a:t>
            </a:r>
            <a:endParaRPr lang="en-US" dirty="0">
              <a:latin typeface="Times New Roman" pitchFamily="18" charset="0"/>
              <a:cs typeface="Times New Roman" pitchFamily="18" charset="0"/>
            </a:endParaRPr>
          </a:p>
          <a:p>
            <a:pPr marL="342900" lvl="0" indent="-342900" algn="just">
              <a:lnSpc>
                <a:spcPct val="150000"/>
              </a:lnSpc>
              <a:buFont typeface="+mj-lt"/>
              <a:buAutoNum type="arabicParenR"/>
            </a:pPr>
            <a:r>
              <a:rPr lang="id-ID" dirty="0" smtClean="0">
                <a:latin typeface="Times New Roman" pitchFamily="18" charset="0"/>
                <a:cs typeface="Times New Roman" pitchFamily="18" charset="0"/>
              </a:rPr>
              <a:t>Metode </a:t>
            </a:r>
            <a:r>
              <a:rPr lang="id-ID" dirty="0">
                <a:latin typeface="Times New Roman" pitchFamily="18" charset="0"/>
                <a:cs typeface="Times New Roman" pitchFamily="18" charset="0"/>
              </a:rPr>
              <a:t>yang digunakan dalam sistem pengambilan keputusan ini adalah </a:t>
            </a:r>
            <a:r>
              <a:rPr lang="en-US" dirty="0" err="1">
                <a:latin typeface="Times New Roman" pitchFamily="18" charset="0"/>
                <a:cs typeface="Times New Roman" pitchFamily="18" charset="0"/>
              </a:rPr>
              <a:t>meode</a:t>
            </a:r>
            <a:r>
              <a:rPr lang="en-US" dirty="0">
                <a:latin typeface="Times New Roman" pitchFamily="18" charset="0"/>
                <a:cs typeface="Times New Roman" pitchFamily="18" charset="0"/>
              </a:rPr>
              <a:t> </a:t>
            </a:r>
            <a:r>
              <a:rPr lang="id-ID" i="1" dirty="0">
                <a:latin typeface="Times New Roman" pitchFamily="18" charset="0"/>
                <a:cs typeface="Times New Roman" pitchFamily="18" charset="0"/>
              </a:rPr>
              <a:t>Simple Additive </a:t>
            </a:r>
            <a:r>
              <a:rPr lang="id-ID" i="1" dirty="0" smtClean="0">
                <a:latin typeface="Times New Roman" pitchFamily="18" charset="0"/>
                <a:cs typeface="Times New Roman" pitchFamily="18" charset="0"/>
              </a:rPr>
              <a:t>Weighting</a:t>
            </a:r>
            <a:endParaRPr lang="en-US" dirty="0">
              <a:latin typeface="Times New Roman" pitchFamily="18" charset="0"/>
              <a:cs typeface="Times New Roman" pitchFamily="18" charset="0"/>
            </a:endParaRPr>
          </a:p>
          <a:p>
            <a:pPr marL="342900" lvl="0" indent="-342900" algn="just">
              <a:lnSpc>
                <a:spcPct val="150000"/>
              </a:lnSpc>
              <a:buFont typeface="+mj-lt"/>
              <a:buAutoNum type="arabicParenR"/>
            </a:pPr>
            <a:r>
              <a:rPr lang="id-ID" dirty="0" smtClean="0">
                <a:latin typeface="Times New Roman" pitchFamily="18" charset="0"/>
                <a:cs typeface="Times New Roman" pitchFamily="18" charset="0"/>
              </a:rPr>
              <a:t>Kriteria </a:t>
            </a:r>
            <a:r>
              <a:rPr lang="id-ID" dirty="0">
                <a:latin typeface="Times New Roman" pitchFamily="18" charset="0"/>
                <a:cs typeface="Times New Roman" pitchFamily="18" charset="0"/>
              </a:rPr>
              <a:t>yang digunakan dalam penelitian ini meliputi :</a:t>
            </a:r>
            <a:endParaRPr lang="en-US" dirty="0">
              <a:latin typeface="Times New Roman" pitchFamily="18" charset="0"/>
              <a:cs typeface="Times New Roman" pitchFamily="18" charset="0"/>
            </a:endParaRPr>
          </a:p>
          <a:p>
            <a:pPr marL="800100" lvl="1" indent="-342900" algn="just">
              <a:lnSpc>
                <a:spcPct val="150000"/>
              </a:lnSpc>
              <a:buFont typeface="+mj-lt"/>
              <a:buAutoNum type="alphaLcPeriod"/>
            </a:pPr>
            <a:r>
              <a:rPr lang="en-US" dirty="0" err="1">
                <a:latin typeface="Times New Roman" pitchFamily="18" charset="0"/>
                <a:cs typeface="Times New Roman" pitchFamily="18" charset="0"/>
              </a:rPr>
              <a:t>Kehadiran</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800100" lvl="1" indent="-342900" algn="just">
              <a:lnSpc>
                <a:spcPct val="150000"/>
              </a:lnSpc>
              <a:buFont typeface="+mj-lt"/>
              <a:buAutoNum type="alphaLcPeriod"/>
            </a:pPr>
            <a:r>
              <a:rPr lang="en-US" dirty="0" err="1" smtClean="0">
                <a:latin typeface="Times New Roman" pitchFamily="18" charset="0"/>
                <a:cs typeface="Times New Roman" pitchFamily="18" charset="0"/>
              </a:rPr>
              <a:t>Kedisiplinan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aturan</a:t>
            </a:r>
            <a:endParaRPr lang="en-US" dirty="0">
              <a:latin typeface="Times New Roman" pitchFamily="18" charset="0"/>
              <a:cs typeface="Times New Roman" pitchFamily="18" charset="0"/>
            </a:endParaRPr>
          </a:p>
          <a:p>
            <a:pPr marL="800100" lvl="1" indent="-342900" algn="just">
              <a:lnSpc>
                <a:spcPct val="150000"/>
              </a:lnSpc>
              <a:buFont typeface="+mj-lt"/>
              <a:buAutoNum type="alphaLcPeriod"/>
            </a:pPr>
            <a:r>
              <a:rPr lang="en-US" dirty="0" err="1" smtClean="0">
                <a:latin typeface="Times New Roman" pitchFamily="18" charset="0"/>
                <a:cs typeface="Times New Roman" pitchFamily="18" charset="0"/>
              </a:rPr>
              <a:t>kepribadian</a:t>
            </a:r>
            <a:r>
              <a:rPr lang="en-US" dirty="0" smtClean="0">
                <a:latin typeface="Times New Roman" pitchFamily="18" charset="0"/>
                <a:cs typeface="Times New Roman" pitchFamily="18" charset="0"/>
              </a:rPr>
              <a:t> </a:t>
            </a:r>
          </a:p>
          <a:p>
            <a:pPr marL="800100" lvl="1" indent="-342900" algn="just">
              <a:lnSpc>
                <a:spcPct val="150000"/>
              </a:lnSpc>
              <a:buFont typeface="+mj-lt"/>
              <a:buAutoNum type="alphaLcPeriod"/>
            </a:pPr>
            <a:r>
              <a:rPr lang="en-US" dirty="0" err="1" smtClean="0">
                <a:latin typeface="Times New Roman" pitchFamily="18" charset="0"/>
                <a:cs typeface="Times New Roman" pitchFamily="18" charset="0"/>
              </a:rPr>
              <a:t>Metode</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pembelajaran</a:t>
            </a:r>
            <a:r>
              <a:rPr lang="en-US" dirty="0" smtClean="0">
                <a:latin typeface="Times New Roman" pitchFamily="18" charset="0"/>
                <a:cs typeface="Times New Roman" pitchFamily="18" charset="0"/>
              </a:rPr>
              <a:t> </a:t>
            </a:r>
          </a:p>
          <a:p>
            <a:pPr marL="800100" lvl="1" indent="-342900" algn="just">
              <a:lnSpc>
                <a:spcPct val="150000"/>
              </a:lnSpc>
              <a:buFont typeface="+mj-lt"/>
              <a:buAutoNum type="alphaLcPeriod"/>
            </a:pPr>
            <a:r>
              <a:rPr lang="en-US" dirty="0" err="1" smtClean="0">
                <a:latin typeface="Times New Roman" pitchFamily="18" charset="0"/>
                <a:cs typeface="Times New Roman" pitchFamily="18" charset="0"/>
              </a:rPr>
              <a:t>Penguasaan</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materi</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800100" lvl="1" indent="-342900" algn="just">
              <a:lnSpc>
                <a:spcPct val="150000"/>
              </a:lnSpc>
              <a:buFont typeface="+mj-lt"/>
              <a:buAutoNum type="alphaLcPeriod"/>
            </a:pPr>
            <a:r>
              <a:rPr lang="en-US" dirty="0" err="1" smtClean="0">
                <a:latin typeface="Times New Roman" pitchFamily="18" charset="0"/>
                <a:cs typeface="Times New Roman" pitchFamily="18" charset="0"/>
              </a:rPr>
              <a:t>Nilai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sosial</a:t>
            </a:r>
            <a:endParaRPr lang="en-US" dirty="0">
              <a:latin typeface="Times New Roman" pitchFamily="18" charset="0"/>
              <a:cs typeface="Times New Roman" pitchFamily="18" charset="0"/>
            </a:endParaRPr>
          </a:p>
        </p:txBody>
      </p:sp>
      <p:sp>
        <p:nvSpPr>
          <p:cNvPr id="3" name="Horizontal Scroll 2"/>
          <p:cNvSpPr/>
          <p:nvPr/>
        </p:nvSpPr>
        <p:spPr>
          <a:xfrm>
            <a:off x="2843808" y="581650"/>
            <a:ext cx="3528392" cy="720080"/>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latin typeface="Times New Roman" pitchFamily="18" charset="0"/>
                <a:cs typeface="Times New Roman" pitchFamily="18" charset="0"/>
              </a:rPr>
              <a:t>Batasan</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Masalah</a:t>
            </a:r>
            <a:endParaRPr lang="en-US" b="1" dirty="0">
              <a:solidFill>
                <a:schemeClr val="tx1"/>
              </a:solidFill>
              <a:latin typeface="Times New Roman" pitchFamily="18" charset="0"/>
              <a:cs typeface="Times New Roman" pitchFamily="18" charset="0"/>
            </a:endParaRPr>
          </a:p>
        </p:txBody>
      </p:sp>
      <p:sp>
        <p:nvSpPr>
          <p:cNvPr id="4" name="Right Triangle 3"/>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87670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3" name="TextBox 2"/>
          <p:cNvSpPr txBox="1"/>
          <p:nvPr/>
        </p:nvSpPr>
        <p:spPr>
          <a:xfrm>
            <a:off x="2547068" y="2636912"/>
            <a:ext cx="3672408" cy="1200329"/>
          </a:xfrm>
          <a:prstGeom prst="rect">
            <a:avLst/>
          </a:prstGeom>
          <a:noFill/>
        </p:spPr>
        <p:txBody>
          <a:bodyPr wrap="square" rtlCol="0">
            <a:spAutoFit/>
          </a:bodyPr>
          <a:lstStyle/>
          <a:p>
            <a:pPr algn="ctr">
              <a:lnSpc>
                <a:spcPct val="150000"/>
              </a:lnSpc>
            </a:pPr>
            <a:r>
              <a:rPr lang="en-US" sz="2400" b="1" dirty="0" smtClean="0">
                <a:latin typeface="Times New Roman" pitchFamily="18" charset="0"/>
                <a:cs typeface="Times New Roman" pitchFamily="18" charset="0"/>
              </a:rPr>
              <a:t>BAB II </a:t>
            </a:r>
          </a:p>
          <a:p>
            <a:pPr algn="ctr">
              <a:lnSpc>
                <a:spcPct val="150000"/>
              </a:lnSpc>
            </a:pPr>
            <a:r>
              <a:rPr lang="en-US" sz="2400" b="1" dirty="0" smtClean="0">
                <a:latin typeface="Times New Roman" pitchFamily="18" charset="0"/>
                <a:cs typeface="Times New Roman" pitchFamily="18" charset="0"/>
              </a:rPr>
              <a:t>TINJAUAN PUSTAKA</a:t>
            </a:r>
            <a:endParaRPr lang="en-US" sz="2400" b="1" dirty="0">
              <a:latin typeface="Times New Roman" pitchFamily="18" charset="0"/>
              <a:cs typeface="Times New Roman" pitchFamily="18" charset="0"/>
            </a:endParaRPr>
          </a:p>
        </p:txBody>
      </p:sp>
      <p:sp>
        <p:nvSpPr>
          <p:cNvPr id="4" name="Right Triangle 3"/>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8611487"/>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70487593"/>
              </p:ext>
            </p:extLst>
          </p:nvPr>
        </p:nvGraphicFramePr>
        <p:xfrm>
          <a:off x="687192" y="1268760"/>
          <a:ext cx="7411106" cy="5033322"/>
        </p:xfrm>
        <a:graphic>
          <a:graphicData uri="http://schemas.openxmlformats.org/drawingml/2006/table">
            <a:tbl>
              <a:tblPr firstRow="1" bandRow="1"/>
              <a:tblGrid>
                <a:gridCol w="381000"/>
                <a:gridCol w="1485490"/>
                <a:gridCol w="2160240"/>
                <a:gridCol w="1296144"/>
                <a:gridCol w="2088232"/>
              </a:tblGrid>
              <a:tr h="421230">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ctr"/>
                      <a:r>
                        <a:rPr lang="en-US" sz="1200" b="1" dirty="0" smtClean="0">
                          <a:latin typeface="Times New Roman" pitchFamily="18" charset="0"/>
                          <a:cs typeface="Times New Roman" pitchFamily="18" charset="0"/>
                        </a:rPr>
                        <a:t>No</a:t>
                      </a:r>
                      <a:endParaRPr lang="en-US" sz="1200" b="1"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ctr"/>
                      <a:r>
                        <a:rPr lang="en-US" sz="1200" b="1" dirty="0" err="1" smtClean="0">
                          <a:latin typeface="Times New Roman" pitchFamily="18" charset="0"/>
                          <a:cs typeface="Times New Roman" pitchFamily="18" charset="0"/>
                        </a:rPr>
                        <a:t>Peneliti</a:t>
                      </a:r>
                      <a:endParaRPr lang="en-US" sz="1200" b="1"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ctr"/>
                      <a:r>
                        <a:rPr lang="en-US" sz="1200" b="1" i="0" u="none" strike="noStrike" cap="none" dirty="0" err="1" smtClean="0">
                          <a:solidFill>
                            <a:schemeClr val="tx1"/>
                          </a:solidFill>
                          <a:latin typeface="Times New Roman" pitchFamily="18" charset="0"/>
                          <a:ea typeface="+mn-ea"/>
                          <a:cs typeface="Times New Roman" pitchFamily="18" charset="0"/>
                          <a:sym typeface="Arial"/>
                        </a:rPr>
                        <a:t>Judul</a:t>
                      </a:r>
                      <a:endParaRPr lang="en-US" sz="1200" b="1"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ctr"/>
                      <a:r>
                        <a:rPr lang="en-US" sz="1200" b="1" i="0" u="none" strike="noStrike" cap="none" dirty="0" err="1" smtClean="0">
                          <a:solidFill>
                            <a:schemeClr val="tx1"/>
                          </a:solidFill>
                          <a:latin typeface="Times New Roman" pitchFamily="18" charset="0"/>
                          <a:ea typeface="+mn-ea"/>
                          <a:cs typeface="Times New Roman" pitchFamily="18" charset="0"/>
                          <a:sym typeface="Arial"/>
                        </a:rPr>
                        <a:t>Metode</a:t>
                      </a:r>
                      <a:endParaRPr lang="en-US" sz="1200" b="1"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ctr"/>
                      <a:r>
                        <a:rPr lang="en-US" sz="1200" b="1" i="0" u="none" strike="noStrike" cap="none" dirty="0" err="1" smtClean="0">
                          <a:solidFill>
                            <a:schemeClr val="tx1"/>
                          </a:solidFill>
                          <a:latin typeface="Times New Roman" pitchFamily="18" charset="0"/>
                          <a:ea typeface="+mn-ea"/>
                          <a:cs typeface="Times New Roman" pitchFamily="18" charset="0"/>
                          <a:sym typeface="Arial"/>
                        </a:rPr>
                        <a:t>Hasil</a:t>
                      </a:r>
                      <a:endParaRPr lang="en-US" sz="1200" b="1"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r>
              <a:tr h="1045932">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ctr"/>
                      <a:r>
                        <a:rPr lang="en-US" sz="1200" dirty="0" smtClean="0">
                          <a:latin typeface="Times New Roman" pitchFamily="18" charset="0"/>
                          <a:cs typeface="Times New Roman" pitchFamily="18" charset="0"/>
                        </a:rPr>
                        <a:t>1</a:t>
                      </a:r>
                      <a:endParaRPr lang="en-US" sz="120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just">
                        <a:lnSpc>
                          <a:spcPct val="100000"/>
                        </a:lnSpc>
                      </a:pPr>
                      <a:r>
                        <a:rPr lang="id-ID" sz="1200" dirty="0" smtClean="0">
                          <a:effectLst/>
                          <a:latin typeface="Times New Roman"/>
                          <a:ea typeface="Calibri"/>
                        </a:rPr>
                        <a:t>Aulia Paramita, Fanisya Alva Mustika</a:t>
                      </a:r>
                      <a:r>
                        <a:rPr lang="en-US" sz="1200" dirty="0" smtClean="0">
                          <a:effectLst/>
                          <a:latin typeface="Times New Roman"/>
                          <a:ea typeface="Calibri"/>
                        </a:rPr>
                        <a:t>, </a:t>
                      </a:r>
                      <a:r>
                        <a:rPr lang="en-US" sz="1200" dirty="0" err="1" smtClean="0">
                          <a:effectLst/>
                          <a:latin typeface="Times New Roman"/>
                          <a:ea typeface="Calibri"/>
                        </a:rPr>
                        <a:t>dan</a:t>
                      </a:r>
                      <a:r>
                        <a:rPr lang="en-US" sz="1200" dirty="0" smtClean="0">
                          <a:effectLst/>
                          <a:latin typeface="Times New Roman"/>
                          <a:ea typeface="Calibri"/>
                        </a:rPr>
                        <a:t> </a:t>
                      </a:r>
                      <a:r>
                        <a:rPr lang="id-ID" sz="1200" dirty="0" smtClean="0">
                          <a:effectLst/>
                          <a:latin typeface="Times New Roman"/>
                          <a:ea typeface="Calibri"/>
                        </a:rPr>
                        <a:t>Naely Farkhatin</a:t>
                      </a:r>
                      <a:r>
                        <a:rPr lang="en-US" sz="1200" dirty="0" smtClean="0">
                          <a:effectLst/>
                          <a:latin typeface="Times New Roman"/>
                          <a:ea typeface="Calibri"/>
                        </a:rPr>
                        <a:t>, (2017).</a:t>
                      </a:r>
                      <a:endParaRPr lang="en-US" sz="120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just">
                        <a:lnSpc>
                          <a:spcPct val="100000"/>
                        </a:lnSpc>
                      </a:pPr>
                      <a:r>
                        <a:rPr lang="id-ID" sz="1200" dirty="0" smtClean="0">
                          <a:effectLst/>
                          <a:latin typeface="Times New Roman"/>
                          <a:ea typeface="Calibri"/>
                        </a:rPr>
                        <a:t>Aplikasi Sistem Pendukung Keputusan Guru Terbaik Berdasarkan Kinerja dengan Metode Analytical Hierarchy Process (AHP)</a:t>
                      </a:r>
                      <a:endParaRPr lang="en-US" sz="120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id-ID" sz="1200" b="0" i="0" u="none" strike="noStrike" kern="1200" cap="none" spc="0" normalizeH="0" baseline="0" noProof="0" dirty="0" smtClean="0">
                          <a:ln>
                            <a:noFill/>
                          </a:ln>
                          <a:solidFill>
                            <a:prstClr val="black"/>
                          </a:solidFill>
                          <a:effectLst/>
                          <a:uLnTx/>
                          <a:uFillTx/>
                          <a:latin typeface="Times New Roman"/>
                          <a:ea typeface="Calibri"/>
                          <a:cs typeface="+mn-cs"/>
                        </a:rPr>
                        <a:t>Metode Analytical Hierarchy Process (AHP</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a:t>
                      </a:r>
                      <a:endParaRPr kumimoji="0" lang="en-US" sz="12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just">
                        <a:lnSpc>
                          <a:spcPct val="100000"/>
                        </a:lnSpc>
                      </a:pPr>
                      <a:r>
                        <a:rPr lang="en-US" sz="1200" dirty="0" err="1" smtClean="0">
                          <a:effectLst/>
                          <a:latin typeface="Times New Roman"/>
                          <a:ea typeface="Calibri"/>
                        </a:rPr>
                        <a:t>Berupa</a:t>
                      </a:r>
                      <a:r>
                        <a:rPr lang="en-US" sz="1200" dirty="0" smtClean="0">
                          <a:effectLst/>
                          <a:latin typeface="Times New Roman"/>
                          <a:ea typeface="Calibri"/>
                        </a:rPr>
                        <a:t> system </a:t>
                      </a:r>
                      <a:r>
                        <a:rPr lang="en-US" sz="1200" dirty="0" err="1" smtClean="0">
                          <a:effectLst/>
                          <a:latin typeface="Times New Roman"/>
                          <a:ea typeface="Calibri"/>
                        </a:rPr>
                        <a:t>pendukung</a:t>
                      </a:r>
                      <a:r>
                        <a:rPr lang="en-US" sz="1200" dirty="0" smtClean="0">
                          <a:effectLst/>
                          <a:latin typeface="Times New Roman"/>
                          <a:ea typeface="Calibri"/>
                        </a:rPr>
                        <a:t> </a:t>
                      </a:r>
                      <a:r>
                        <a:rPr lang="en-US" sz="1200" dirty="0" err="1" smtClean="0">
                          <a:effectLst/>
                          <a:latin typeface="Times New Roman"/>
                          <a:ea typeface="Calibri"/>
                        </a:rPr>
                        <a:t>keputusan</a:t>
                      </a:r>
                      <a:r>
                        <a:rPr lang="en-US" sz="1200" dirty="0" smtClean="0">
                          <a:effectLst/>
                          <a:latin typeface="Times New Roman"/>
                          <a:ea typeface="Calibri"/>
                        </a:rPr>
                        <a:t> </a:t>
                      </a:r>
                      <a:r>
                        <a:rPr lang="en-US" sz="1200" dirty="0" err="1" smtClean="0">
                          <a:effectLst/>
                          <a:latin typeface="Times New Roman"/>
                          <a:ea typeface="Calibri"/>
                        </a:rPr>
                        <a:t>pemilihan</a:t>
                      </a:r>
                      <a:r>
                        <a:rPr lang="en-US" sz="1200" dirty="0" smtClean="0">
                          <a:effectLst/>
                          <a:latin typeface="Times New Roman"/>
                          <a:ea typeface="Calibri"/>
                        </a:rPr>
                        <a:t> guru </a:t>
                      </a:r>
                      <a:r>
                        <a:rPr lang="en-US" sz="1200" dirty="0" err="1" smtClean="0">
                          <a:effectLst/>
                          <a:latin typeface="Times New Roman"/>
                          <a:ea typeface="Calibri"/>
                        </a:rPr>
                        <a:t>terbaik</a:t>
                      </a:r>
                      <a:r>
                        <a:rPr lang="en-US" sz="1200" dirty="0" smtClean="0">
                          <a:effectLst/>
                          <a:latin typeface="Times New Roman"/>
                          <a:ea typeface="Calibri"/>
                        </a:rPr>
                        <a:t> yang </a:t>
                      </a:r>
                      <a:r>
                        <a:rPr lang="en-US" sz="1200" dirty="0" err="1" smtClean="0">
                          <a:effectLst/>
                          <a:latin typeface="Times New Roman"/>
                          <a:ea typeface="Calibri"/>
                        </a:rPr>
                        <a:t>dapat</a:t>
                      </a:r>
                      <a:r>
                        <a:rPr lang="en-US" sz="1200" dirty="0" smtClean="0">
                          <a:effectLst/>
                          <a:latin typeface="Times New Roman"/>
                          <a:ea typeface="Calibri"/>
                        </a:rPr>
                        <a:t> </a:t>
                      </a:r>
                      <a:r>
                        <a:rPr lang="en-US" sz="1200" dirty="0" err="1" smtClean="0">
                          <a:effectLst/>
                          <a:latin typeface="Times New Roman"/>
                          <a:ea typeface="Calibri"/>
                        </a:rPr>
                        <a:t>mengurangi</a:t>
                      </a:r>
                      <a:r>
                        <a:rPr lang="en-US" sz="1200" dirty="0" smtClean="0">
                          <a:effectLst/>
                          <a:latin typeface="Times New Roman"/>
                          <a:ea typeface="Calibri"/>
                        </a:rPr>
                        <a:t> </a:t>
                      </a:r>
                      <a:r>
                        <a:rPr lang="en-US" sz="1200" dirty="0" err="1" smtClean="0">
                          <a:effectLst/>
                          <a:latin typeface="Times New Roman"/>
                          <a:ea typeface="Calibri"/>
                        </a:rPr>
                        <a:t>kesalahan</a:t>
                      </a:r>
                      <a:r>
                        <a:rPr lang="en-US" sz="1200" dirty="0" smtClean="0">
                          <a:effectLst/>
                          <a:latin typeface="Times New Roman"/>
                          <a:ea typeface="Calibri"/>
                        </a:rPr>
                        <a:t> </a:t>
                      </a:r>
                      <a:r>
                        <a:rPr lang="en-US" sz="1200" dirty="0" err="1" smtClean="0">
                          <a:effectLst/>
                          <a:latin typeface="Times New Roman"/>
                          <a:ea typeface="Calibri"/>
                        </a:rPr>
                        <a:t>penilaian</a:t>
                      </a:r>
                      <a:r>
                        <a:rPr lang="en-US" sz="1200" dirty="0" smtClean="0">
                          <a:effectLst/>
                          <a:latin typeface="Times New Roman"/>
                          <a:ea typeface="Calibri"/>
                        </a:rPr>
                        <a:t> </a:t>
                      </a:r>
                      <a:r>
                        <a:rPr lang="en-US" sz="1200" dirty="0" err="1" smtClean="0">
                          <a:effectLst/>
                          <a:latin typeface="Times New Roman"/>
                          <a:ea typeface="Calibri"/>
                        </a:rPr>
                        <a:t>kinerja</a:t>
                      </a:r>
                      <a:r>
                        <a:rPr lang="en-US" sz="1200" dirty="0" smtClean="0">
                          <a:effectLst/>
                          <a:latin typeface="Times New Roman"/>
                          <a:ea typeface="Calibri"/>
                        </a:rPr>
                        <a:t> guru. </a:t>
                      </a:r>
                      <a:endParaRPr lang="en-US" sz="120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r>
              <a:tr h="349222">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r>
                        <a:rPr lang="en-US" sz="1200" dirty="0" smtClean="0">
                          <a:latin typeface="Times New Roman" pitchFamily="18" charset="0"/>
                          <a:cs typeface="Times New Roman" pitchFamily="18" charset="0"/>
                        </a:rPr>
                        <a:t>2</a:t>
                      </a:r>
                      <a:endParaRPr lang="en-US" sz="120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just">
                        <a:lnSpc>
                          <a:spcPct val="150000"/>
                        </a:lnSpc>
                      </a:pPr>
                      <a:r>
                        <a:rPr lang="en-US" sz="1200" dirty="0" err="1" smtClean="0">
                          <a:effectLst/>
                          <a:latin typeface="Times New Roman"/>
                          <a:ea typeface="Calibri"/>
                        </a:rPr>
                        <a:t>Apriani</a:t>
                      </a:r>
                      <a:r>
                        <a:rPr lang="en-US" sz="1200" dirty="0" smtClean="0">
                          <a:effectLst/>
                          <a:latin typeface="Times New Roman"/>
                          <a:ea typeface="Calibri"/>
                        </a:rPr>
                        <a:t>, </a:t>
                      </a:r>
                      <a:r>
                        <a:rPr lang="en-US" sz="1200" dirty="0" err="1" smtClean="0">
                          <a:effectLst/>
                          <a:latin typeface="Times New Roman"/>
                          <a:ea typeface="Calibri"/>
                        </a:rPr>
                        <a:t>Krisnawati</a:t>
                      </a:r>
                      <a:r>
                        <a:rPr lang="en-US" sz="1200" dirty="0" smtClean="0">
                          <a:effectLst/>
                          <a:latin typeface="Times New Roman"/>
                          <a:ea typeface="Calibri"/>
                        </a:rPr>
                        <a:t> </a:t>
                      </a:r>
                      <a:r>
                        <a:rPr lang="en-US" sz="1200" dirty="0" err="1" smtClean="0">
                          <a:effectLst/>
                          <a:latin typeface="Times New Roman"/>
                          <a:ea typeface="Calibri"/>
                        </a:rPr>
                        <a:t>dan</a:t>
                      </a:r>
                      <a:r>
                        <a:rPr lang="en-US" sz="1200" dirty="0" smtClean="0">
                          <a:effectLst/>
                          <a:latin typeface="Times New Roman"/>
                          <a:ea typeface="Calibri"/>
                        </a:rPr>
                        <a:t> </a:t>
                      </a:r>
                      <a:r>
                        <a:rPr lang="en-US" sz="1200" dirty="0" err="1" smtClean="0">
                          <a:effectLst/>
                          <a:latin typeface="Times New Roman"/>
                          <a:ea typeface="Calibri"/>
                        </a:rPr>
                        <a:t>Fitrisari</a:t>
                      </a:r>
                      <a:r>
                        <a:rPr lang="en-US" sz="1200" dirty="0" smtClean="0">
                          <a:effectLst/>
                          <a:latin typeface="Times New Roman"/>
                          <a:ea typeface="Calibri"/>
                        </a:rPr>
                        <a:t>, (2020).</a:t>
                      </a:r>
                      <a:endParaRPr lang="en-US" sz="120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just">
                        <a:lnSpc>
                          <a:spcPct val="100000"/>
                        </a:lnSpc>
                      </a:pPr>
                      <a:r>
                        <a:rPr lang="en-US" sz="1200" dirty="0" err="1" smtClean="0">
                          <a:effectLst/>
                          <a:latin typeface="Times New Roman"/>
                          <a:ea typeface="Calibri"/>
                        </a:rPr>
                        <a:t>Implementasi</a:t>
                      </a:r>
                      <a:r>
                        <a:rPr lang="en-US" sz="1200" dirty="0" smtClean="0">
                          <a:effectLst/>
                          <a:latin typeface="Times New Roman"/>
                          <a:ea typeface="Calibri"/>
                        </a:rPr>
                        <a:t> system </a:t>
                      </a:r>
                      <a:r>
                        <a:rPr lang="en-US" sz="1200" dirty="0" err="1" smtClean="0">
                          <a:effectLst/>
                          <a:latin typeface="Times New Roman"/>
                          <a:ea typeface="Calibri"/>
                        </a:rPr>
                        <a:t>pendukung</a:t>
                      </a:r>
                      <a:r>
                        <a:rPr lang="en-US" sz="1200" dirty="0" smtClean="0">
                          <a:effectLst/>
                          <a:latin typeface="Times New Roman"/>
                          <a:ea typeface="Calibri"/>
                        </a:rPr>
                        <a:t> </a:t>
                      </a:r>
                      <a:r>
                        <a:rPr lang="en-US" sz="1200" dirty="0" err="1" smtClean="0">
                          <a:effectLst/>
                          <a:latin typeface="Times New Roman"/>
                          <a:ea typeface="Calibri"/>
                        </a:rPr>
                        <a:t>keputusan</a:t>
                      </a:r>
                      <a:r>
                        <a:rPr lang="en-US" sz="1200" dirty="0" smtClean="0">
                          <a:effectLst/>
                          <a:latin typeface="Times New Roman"/>
                          <a:ea typeface="Calibri"/>
                        </a:rPr>
                        <a:t> </a:t>
                      </a:r>
                      <a:r>
                        <a:rPr lang="en-US" sz="1200" dirty="0" err="1" smtClean="0">
                          <a:effectLst/>
                          <a:latin typeface="Times New Roman"/>
                          <a:ea typeface="Calibri"/>
                        </a:rPr>
                        <a:t>dengan</a:t>
                      </a:r>
                      <a:r>
                        <a:rPr lang="en-US" sz="1200" dirty="0" smtClean="0">
                          <a:effectLst/>
                          <a:latin typeface="Times New Roman"/>
                          <a:ea typeface="Calibri"/>
                        </a:rPr>
                        <a:t> </a:t>
                      </a:r>
                      <a:r>
                        <a:rPr lang="en-US" sz="1200" dirty="0" err="1" smtClean="0">
                          <a:effectLst/>
                          <a:latin typeface="Times New Roman"/>
                          <a:ea typeface="Calibri"/>
                        </a:rPr>
                        <a:t>metode</a:t>
                      </a:r>
                      <a:r>
                        <a:rPr lang="en-US" sz="1200" dirty="0" smtClean="0">
                          <a:effectLst/>
                          <a:latin typeface="Times New Roman"/>
                          <a:ea typeface="Calibri"/>
                        </a:rPr>
                        <a:t> SAW </a:t>
                      </a:r>
                      <a:r>
                        <a:rPr lang="en-US" sz="1200" dirty="0" err="1" smtClean="0">
                          <a:effectLst/>
                          <a:latin typeface="Times New Roman"/>
                          <a:ea typeface="Calibri"/>
                        </a:rPr>
                        <a:t>dalam</a:t>
                      </a:r>
                      <a:r>
                        <a:rPr lang="en-US" sz="1200" dirty="0" smtClean="0">
                          <a:effectLst/>
                          <a:latin typeface="Times New Roman"/>
                          <a:ea typeface="Calibri"/>
                        </a:rPr>
                        <a:t> </a:t>
                      </a:r>
                      <a:r>
                        <a:rPr lang="en-US" sz="1200" dirty="0" err="1" smtClean="0">
                          <a:effectLst/>
                          <a:latin typeface="Times New Roman"/>
                          <a:ea typeface="Calibri"/>
                        </a:rPr>
                        <a:t>pemilihan</a:t>
                      </a:r>
                      <a:r>
                        <a:rPr lang="en-US" sz="1200" dirty="0" smtClean="0">
                          <a:effectLst/>
                          <a:latin typeface="Times New Roman"/>
                          <a:ea typeface="Calibri"/>
                        </a:rPr>
                        <a:t> guru </a:t>
                      </a:r>
                      <a:r>
                        <a:rPr lang="en-US" sz="1200" dirty="0" err="1" smtClean="0">
                          <a:effectLst/>
                          <a:latin typeface="Times New Roman"/>
                          <a:ea typeface="Calibri"/>
                        </a:rPr>
                        <a:t>terbaik</a:t>
                      </a:r>
                      <a:endParaRPr lang="en-US" sz="120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just">
                        <a:lnSpc>
                          <a:spcPct val="100000"/>
                        </a:lnSpc>
                      </a:pPr>
                      <a:r>
                        <a:rPr lang="en-US" sz="1200" dirty="0" err="1" smtClean="0">
                          <a:latin typeface="Times New Roman" pitchFamily="18" charset="0"/>
                          <a:cs typeface="Times New Roman" pitchFamily="18" charset="0"/>
                        </a:rPr>
                        <a:t>Metode</a:t>
                      </a:r>
                      <a:r>
                        <a:rPr lang="en-US" sz="1200" dirty="0" smtClean="0">
                          <a:latin typeface="Times New Roman" pitchFamily="18" charset="0"/>
                          <a:cs typeface="Times New Roman" pitchFamily="18" charset="0"/>
                        </a:rPr>
                        <a:t> </a:t>
                      </a:r>
                      <a:r>
                        <a:rPr lang="en-US" sz="1200" i="1" dirty="0" smtClean="0">
                          <a:latin typeface="Times New Roman" pitchFamily="18" charset="0"/>
                          <a:cs typeface="Times New Roman" pitchFamily="18" charset="0"/>
                        </a:rPr>
                        <a:t>simple </a:t>
                      </a:r>
                      <a:r>
                        <a:rPr lang="en-US" sz="1200" i="1" dirty="0" err="1" smtClean="0">
                          <a:latin typeface="Times New Roman" pitchFamily="18" charset="0"/>
                          <a:cs typeface="Times New Roman" pitchFamily="18" charset="0"/>
                        </a:rPr>
                        <a:t>addaitive</a:t>
                      </a:r>
                      <a:r>
                        <a:rPr lang="en-US" sz="1200" i="1" dirty="0" smtClean="0">
                          <a:latin typeface="Times New Roman" pitchFamily="18" charset="0"/>
                          <a:cs typeface="Times New Roman" pitchFamily="18" charset="0"/>
                        </a:rPr>
                        <a:t> weighting </a:t>
                      </a:r>
                      <a:r>
                        <a:rPr lang="en-US" sz="1200" i="0" dirty="0" smtClean="0">
                          <a:latin typeface="Times New Roman" pitchFamily="18" charset="0"/>
                          <a:cs typeface="Times New Roman" pitchFamily="18" charset="0"/>
                        </a:rPr>
                        <a:t>(SAW).</a:t>
                      </a:r>
                      <a:endParaRPr lang="en-US" sz="1200" i="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rtl="0" eaLnBrk="1" latinLnBrk="0" hangingPunct="1">
                        <a:defRPr kumimoji="0" kern="1200">
                          <a:solidFill>
                            <a:schemeClr val="tx1"/>
                          </a:solidFill>
                          <a:latin typeface="Arial"/>
                        </a:defRPr>
                      </a:lvl1pPr>
                      <a:lvl2pPr marL="457200" algn="l" rtl="0" eaLnBrk="1" latinLnBrk="0" hangingPunct="1">
                        <a:defRPr kumimoji="0" kern="1200">
                          <a:solidFill>
                            <a:schemeClr val="tx1"/>
                          </a:solidFill>
                          <a:latin typeface="Arial"/>
                        </a:defRPr>
                      </a:lvl2pPr>
                      <a:lvl3pPr marL="914400" algn="l" rtl="0" eaLnBrk="1" latinLnBrk="0" hangingPunct="1">
                        <a:defRPr kumimoji="0" kern="1200">
                          <a:solidFill>
                            <a:schemeClr val="tx1"/>
                          </a:solidFill>
                          <a:latin typeface="Arial"/>
                        </a:defRPr>
                      </a:lvl3pPr>
                      <a:lvl4pPr marL="1371600" algn="l" rtl="0" eaLnBrk="1" latinLnBrk="0" hangingPunct="1">
                        <a:defRPr kumimoji="0" kern="1200">
                          <a:solidFill>
                            <a:schemeClr val="tx1"/>
                          </a:solidFill>
                          <a:latin typeface="Arial"/>
                        </a:defRPr>
                      </a:lvl4pPr>
                      <a:lvl5pPr marL="1828800" algn="l" rtl="0" eaLnBrk="1" latinLnBrk="0" hangingPunct="1">
                        <a:defRPr kumimoji="0" kern="1200">
                          <a:solidFill>
                            <a:schemeClr val="tx1"/>
                          </a:solidFill>
                          <a:latin typeface="Arial"/>
                        </a:defRPr>
                      </a:lvl5pPr>
                      <a:lvl6pPr marL="2286000" algn="l" rtl="0" eaLnBrk="1" latinLnBrk="0" hangingPunct="1">
                        <a:defRPr kumimoji="0" kern="1200">
                          <a:solidFill>
                            <a:schemeClr val="tx1"/>
                          </a:solidFill>
                          <a:latin typeface="Arial"/>
                        </a:defRPr>
                      </a:lvl6pPr>
                      <a:lvl7pPr marL="2743200" algn="l" rtl="0" eaLnBrk="1" latinLnBrk="0" hangingPunct="1">
                        <a:defRPr kumimoji="0" kern="1200">
                          <a:solidFill>
                            <a:schemeClr val="tx1"/>
                          </a:solidFill>
                          <a:latin typeface="Arial"/>
                        </a:defRPr>
                      </a:lvl7pPr>
                      <a:lvl8pPr marL="3200400" algn="l" rtl="0" eaLnBrk="1" latinLnBrk="0" hangingPunct="1">
                        <a:defRPr kumimoji="0" kern="1200">
                          <a:solidFill>
                            <a:schemeClr val="tx1"/>
                          </a:solidFill>
                          <a:latin typeface="Arial"/>
                        </a:defRPr>
                      </a:lvl8pPr>
                      <a:lvl9pPr marL="3657600" algn="l" rtl="0" eaLnBrk="1" latinLnBrk="0" hangingPunct="1">
                        <a:defRPr kumimoji="0" kern="1200">
                          <a:solidFill>
                            <a:schemeClr val="tx1"/>
                          </a:solidFill>
                          <a:latin typeface="Arial"/>
                        </a:defRPr>
                      </a:lvl9pPr>
                    </a:lstStyle>
                    <a:p>
                      <a:pPr algn="just">
                        <a:lnSpc>
                          <a:spcPct val="100000"/>
                        </a:lnSpc>
                      </a:pPr>
                      <a:r>
                        <a:rPr lang="en-US" sz="1200" dirty="0" err="1" smtClean="0">
                          <a:effectLst/>
                          <a:latin typeface="Times New Roman"/>
                          <a:ea typeface="Calibri"/>
                        </a:rPr>
                        <a:t>Berupa</a:t>
                      </a:r>
                      <a:r>
                        <a:rPr lang="en-US" sz="1200" dirty="0" smtClean="0">
                          <a:effectLst/>
                          <a:latin typeface="Times New Roman"/>
                          <a:ea typeface="Calibri"/>
                        </a:rPr>
                        <a:t> system </a:t>
                      </a:r>
                      <a:r>
                        <a:rPr lang="en-US" sz="1200" dirty="0" err="1" smtClean="0">
                          <a:effectLst/>
                          <a:latin typeface="Times New Roman"/>
                          <a:ea typeface="Calibri"/>
                        </a:rPr>
                        <a:t>pendukung</a:t>
                      </a:r>
                      <a:r>
                        <a:rPr lang="en-US" sz="1200" dirty="0" smtClean="0">
                          <a:effectLst/>
                          <a:latin typeface="Times New Roman"/>
                          <a:ea typeface="Calibri"/>
                        </a:rPr>
                        <a:t> </a:t>
                      </a:r>
                      <a:r>
                        <a:rPr lang="en-US" sz="1200" dirty="0" err="1" smtClean="0">
                          <a:effectLst/>
                          <a:latin typeface="Times New Roman"/>
                          <a:ea typeface="Calibri"/>
                        </a:rPr>
                        <a:t>keputusan</a:t>
                      </a:r>
                      <a:r>
                        <a:rPr lang="en-US" sz="1200" dirty="0" smtClean="0">
                          <a:effectLst/>
                          <a:latin typeface="Times New Roman"/>
                          <a:ea typeface="Calibri"/>
                        </a:rPr>
                        <a:t> </a:t>
                      </a:r>
                      <a:r>
                        <a:rPr lang="en-US" sz="1200" dirty="0" err="1" smtClean="0">
                          <a:effectLst/>
                          <a:latin typeface="Times New Roman"/>
                          <a:ea typeface="Calibri"/>
                        </a:rPr>
                        <a:t>pemilihan</a:t>
                      </a:r>
                      <a:r>
                        <a:rPr lang="en-US" sz="1200" dirty="0" smtClean="0">
                          <a:effectLst/>
                          <a:latin typeface="Times New Roman"/>
                          <a:ea typeface="Calibri"/>
                        </a:rPr>
                        <a:t> guru </a:t>
                      </a:r>
                      <a:r>
                        <a:rPr lang="en-US" sz="1200" dirty="0" err="1" smtClean="0">
                          <a:effectLst/>
                          <a:latin typeface="Times New Roman"/>
                          <a:ea typeface="Calibri"/>
                        </a:rPr>
                        <a:t>terbaik</a:t>
                      </a:r>
                      <a:r>
                        <a:rPr lang="en-US" sz="1200" dirty="0" smtClean="0">
                          <a:effectLst/>
                          <a:latin typeface="Times New Roman"/>
                          <a:ea typeface="Calibri"/>
                        </a:rPr>
                        <a:t> yang </a:t>
                      </a:r>
                      <a:r>
                        <a:rPr lang="en-US" sz="1200" dirty="0" err="1" smtClean="0">
                          <a:effectLst/>
                          <a:latin typeface="Times New Roman"/>
                          <a:ea typeface="Calibri"/>
                        </a:rPr>
                        <a:t>mempermudah</a:t>
                      </a:r>
                      <a:r>
                        <a:rPr lang="en-US" sz="1200" dirty="0" smtClean="0">
                          <a:effectLst/>
                          <a:latin typeface="Times New Roman"/>
                          <a:ea typeface="Calibri"/>
                        </a:rPr>
                        <a:t> </a:t>
                      </a:r>
                      <a:r>
                        <a:rPr lang="en-US" sz="1200" dirty="0" err="1" smtClean="0">
                          <a:effectLst/>
                          <a:latin typeface="Times New Roman"/>
                          <a:ea typeface="Calibri"/>
                        </a:rPr>
                        <a:t>pihak</a:t>
                      </a:r>
                      <a:r>
                        <a:rPr lang="en-US" sz="1200" dirty="0" smtClean="0">
                          <a:effectLst/>
                          <a:latin typeface="Times New Roman"/>
                          <a:ea typeface="Calibri"/>
                        </a:rPr>
                        <a:t> </a:t>
                      </a:r>
                      <a:r>
                        <a:rPr lang="en-US" sz="1200" dirty="0" err="1" smtClean="0">
                          <a:effectLst/>
                          <a:latin typeface="Times New Roman"/>
                          <a:ea typeface="Calibri"/>
                        </a:rPr>
                        <a:t>sekolah</a:t>
                      </a:r>
                      <a:r>
                        <a:rPr lang="en-US" sz="1200" dirty="0" smtClean="0">
                          <a:effectLst/>
                          <a:latin typeface="Times New Roman"/>
                          <a:ea typeface="Calibri"/>
                        </a:rPr>
                        <a:t> </a:t>
                      </a:r>
                      <a:r>
                        <a:rPr lang="en-US" sz="1200" dirty="0" err="1" smtClean="0">
                          <a:effectLst/>
                          <a:latin typeface="Times New Roman"/>
                          <a:ea typeface="Calibri"/>
                        </a:rPr>
                        <a:t>dalam</a:t>
                      </a:r>
                      <a:r>
                        <a:rPr lang="en-US" sz="1200" dirty="0" smtClean="0">
                          <a:effectLst/>
                          <a:latin typeface="Times New Roman"/>
                          <a:ea typeface="Calibri"/>
                        </a:rPr>
                        <a:t> </a:t>
                      </a:r>
                      <a:r>
                        <a:rPr lang="en-US" sz="1200" dirty="0" err="1" smtClean="0">
                          <a:effectLst/>
                          <a:latin typeface="Times New Roman"/>
                          <a:ea typeface="Calibri"/>
                        </a:rPr>
                        <a:t>memilih</a:t>
                      </a:r>
                      <a:r>
                        <a:rPr lang="en-US" sz="1200" dirty="0" smtClean="0">
                          <a:effectLst/>
                          <a:latin typeface="Times New Roman"/>
                          <a:ea typeface="Calibri"/>
                        </a:rPr>
                        <a:t> guru </a:t>
                      </a:r>
                      <a:r>
                        <a:rPr lang="en-US" sz="1200" dirty="0" err="1" smtClean="0">
                          <a:effectLst/>
                          <a:latin typeface="Times New Roman"/>
                          <a:ea typeface="Calibri"/>
                        </a:rPr>
                        <a:t>terbaik</a:t>
                      </a:r>
                      <a:r>
                        <a:rPr lang="en-US" sz="1200" dirty="0" smtClean="0">
                          <a:effectLst/>
                          <a:latin typeface="Times New Roman"/>
                          <a:ea typeface="Calibri"/>
                        </a:rPr>
                        <a:t>.</a:t>
                      </a:r>
                      <a:endParaRPr lang="en-US" sz="1200" dirty="0">
                        <a:latin typeface="Times New Roman" pitchFamily="18" charset="0"/>
                        <a:cs typeface="Times New Roman" pitchFamily="18" charset="0"/>
                      </a:endParaRPr>
                    </a:p>
                  </a:txBody>
                  <a:tcP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49222">
                <a:tc>
                  <a:txBody>
                    <a:bodyPr/>
                    <a:lstStyle/>
                    <a:p>
                      <a:r>
                        <a:rPr lang="en-US" sz="1200" dirty="0" smtClean="0">
                          <a:latin typeface="Times New Roman" pitchFamily="18" charset="0"/>
                          <a:cs typeface="Times New Roman" pitchFamily="18" charset="0"/>
                        </a:rPr>
                        <a:t>3</a:t>
                      </a:r>
                      <a:endParaRPr lang="en-US" sz="1200" dirty="0">
                        <a:latin typeface="Times New Roman" pitchFamily="18" charset="0"/>
                        <a:cs typeface="Times New Roman" pitchFamily="18" charset="0"/>
                      </a:endParaRPr>
                    </a:p>
                  </a:txBody>
                  <a:tcP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M.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Irfan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Fadhilah</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dan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safitri</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Juanita, (2019</a:t>
                      </a:r>
                      <a:r>
                        <a:rPr kumimoji="0" lang="en-US" sz="12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sym typeface="Arial"/>
                        </a:rPr>
                        <a:t>).</a:t>
                      </a:r>
                      <a:endParaRPr kumimoji="0" lang="en-US" sz="12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p>
                      <a:pPr algn="just">
                        <a:lnSpc>
                          <a:spcPct val="150000"/>
                        </a:lnSpc>
                      </a:pPr>
                      <a:endParaRPr lang="en-US" sz="1200" dirty="0">
                        <a:latin typeface="Times New Roman" pitchFamily="18" charset="0"/>
                        <a:cs typeface="Times New Roman"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Penerapan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metode</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Analytical Hierarchy Process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dalam</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system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pendukung</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keputusan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pemilihan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guru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terbaik</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a:t>
                      </a:r>
                      <a:endParaRPr kumimoji="0" lang="en-US" sz="12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p>
                      <a:pPr algn="just">
                        <a:lnSpc>
                          <a:spcPct val="100000"/>
                        </a:lnSpc>
                      </a:pPr>
                      <a:endParaRPr lang="en-US" sz="1200" dirty="0">
                        <a:latin typeface="Times New Roman" pitchFamily="18" charset="0"/>
                        <a:cs typeface="Times New Roman"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Analytical Hierarchy Process  (AHP).</a:t>
                      </a:r>
                      <a:endParaRPr kumimoji="0" lang="en-US" sz="12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p>
                      <a:pPr algn="just">
                        <a:lnSpc>
                          <a:spcPct val="100000"/>
                        </a:lnSpc>
                      </a:pPr>
                      <a:endParaRPr lang="en-US" sz="1200" i="0" dirty="0">
                        <a:latin typeface="Times New Roman" pitchFamily="18" charset="0"/>
                        <a:cs typeface="Times New Roman"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Menghasilkan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sebuah</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sistem</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pemilihan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guru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terbaik</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yang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dapat</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meminimalisir</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terjadinya</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penilaian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subjektif</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dan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ketidaktepatan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penilaian</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a:t>
                      </a:r>
                      <a:r>
                        <a:rPr kumimoji="0" lang="en-US" sz="1200" b="0" i="0" u="none" strike="noStrike" kern="1200" cap="none" spc="0" normalizeH="0" baseline="0" noProof="0" dirty="0" err="1" smtClean="0">
                          <a:ln>
                            <a:noFill/>
                          </a:ln>
                          <a:solidFill>
                            <a:prstClr val="black"/>
                          </a:solidFill>
                          <a:effectLst/>
                          <a:uLnTx/>
                          <a:uFillTx/>
                          <a:latin typeface="Times New Roman"/>
                          <a:ea typeface="Calibri"/>
                          <a:cs typeface="+mn-cs"/>
                        </a:rPr>
                        <a:t>kinerja</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 guru. </a:t>
                      </a:r>
                      <a:endParaRPr kumimoji="0" lang="en-US" sz="12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txBody>
                  <a:tcP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r>
              <a:tr h="349222">
                <a:tc>
                  <a:txBody>
                    <a:bodyPr/>
                    <a:lstStyle/>
                    <a:p>
                      <a:r>
                        <a:rPr lang="en-US" sz="1200" dirty="0" smtClean="0">
                          <a:latin typeface="Times New Roman" pitchFamily="18" charset="0"/>
                          <a:cs typeface="Times New Roman" pitchFamily="18" charset="0"/>
                        </a:rPr>
                        <a:t>4</a:t>
                      </a:r>
                      <a:endParaRPr lang="en-US" sz="1200" dirty="0">
                        <a:latin typeface="Times New Roman" pitchFamily="18" charset="0"/>
                        <a:cs typeface="Times New Roman" pitchFamily="18" charset="0"/>
                      </a:endParaRPr>
                    </a:p>
                  </a:txBody>
                  <a:tcP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err="1" smtClean="0">
                          <a:effectLst/>
                          <a:latin typeface="Times New Roman"/>
                          <a:ea typeface="Calibri"/>
                        </a:rPr>
                        <a:t>Faiza</a:t>
                      </a:r>
                      <a:r>
                        <a:rPr lang="en-US" sz="1200" dirty="0" smtClean="0">
                          <a:effectLst/>
                          <a:latin typeface="Times New Roman"/>
                          <a:ea typeface="Calibri"/>
                        </a:rPr>
                        <a:t> </a:t>
                      </a:r>
                      <a:r>
                        <a:rPr lang="en-US" sz="1200" dirty="0" err="1" smtClean="0">
                          <a:effectLst/>
                          <a:latin typeface="Times New Roman"/>
                          <a:ea typeface="Calibri"/>
                        </a:rPr>
                        <a:t>Rini</a:t>
                      </a:r>
                      <a:r>
                        <a:rPr lang="en-US" sz="1200" dirty="0" smtClean="0">
                          <a:effectLst/>
                          <a:latin typeface="Times New Roman"/>
                          <a:ea typeface="Calibri"/>
                        </a:rPr>
                        <a:t>, (2016)</a:t>
                      </a:r>
                      <a:endParaRPr lang="en-US" sz="1200" dirty="0">
                        <a:latin typeface="Times New Roman" pitchFamily="18" charset="0"/>
                        <a:cs typeface="Times New Roman"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err="1" smtClean="0">
                          <a:effectLst/>
                          <a:latin typeface="Times New Roman"/>
                          <a:ea typeface="Calibri"/>
                        </a:rPr>
                        <a:t>Sistem</a:t>
                      </a:r>
                      <a:r>
                        <a:rPr lang="en-US" sz="1200" dirty="0" smtClean="0">
                          <a:effectLst/>
                          <a:latin typeface="Times New Roman"/>
                          <a:ea typeface="Calibri"/>
                        </a:rPr>
                        <a:t> </a:t>
                      </a:r>
                      <a:r>
                        <a:rPr lang="en-US" sz="1200" dirty="0" err="1" smtClean="0">
                          <a:effectLst/>
                          <a:latin typeface="Times New Roman"/>
                          <a:ea typeface="Calibri"/>
                        </a:rPr>
                        <a:t>Pendukung</a:t>
                      </a:r>
                      <a:r>
                        <a:rPr lang="en-US" sz="1200" dirty="0" smtClean="0">
                          <a:effectLst/>
                          <a:latin typeface="Times New Roman"/>
                          <a:ea typeface="Calibri"/>
                        </a:rPr>
                        <a:t> </a:t>
                      </a:r>
                      <a:r>
                        <a:rPr lang="en-US" sz="1200" dirty="0" err="1" smtClean="0">
                          <a:effectLst/>
                          <a:latin typeface="Times New Roman"/>
                          <a:ea typeface="Calibri"/>
                        </a:rPr>
                        <a:t>Keputusan</a:t>
                      </a:r>
                      <a:r>
                        <a:rPr lang="en-US" sz="1200" dirty="0" smtClean="0">
                          <a:effectLst/>
                          <a:latin typeface="Times New Roman"/>
                          <a:ea typeface="Calibri"/>
                        </a:rPr>
                        <a:t> </a:t>
                      </a:r>
                      <a:r>
                        <a:rPr lang="en-US" sz="1200" dirty="0" err="1" smtClean="0">
                          <a:effectLst/>
                          <a:latin typeface="Times New Roman"/>
                          <a:ea typeface="Calibri"/>
                        </a:rPr>
                        <a:t>Pemilihan</a:t>
                      </a:r>
                      <a:r>
                        <a:rPr lang="en-US" sz="1200" dirty="0" smtClean="0">
                          <a:effectLst/>
                          <a:latin typeface="Times New Roman"/>
                          <a:ea typeface="Calibri"/>
                        </a:rPr>
                        <a:t> Guru </a:t>
                      </a:r>
                      <a:r>
                        <a:rPr lang="en-US" sz="1200" dirty="0" err="1" smtClean="0">
                          <a:effectLst/>
                          <a:latin typeface="Times New Roman"/>
                          <a:ea typeface="Calibri"/>
                        </a:rPr>
                        <a:t>Terbaik</a:t>
                      </a:r>
                      <a:r>
                        <a:rPr lang="en-US" sz="1200" dirty="0" smtClean="0">
                          <a:effectLst/>
                          <a:latin typeface="Times New Roman"/>
                          <a:ea typeface="Calibri"/>
                        </a:rPr>
                        <a:t> </a:t>
                      </a:r>
                      <a:r>
                        <a:rPr lang="en-US" sz="1200" dirty="0" err="1" smtClean="0">
                          <a:effectLst/>
                          <a:latin typeface="Times New Roman"/>
                          <a:ea typeface="Calibri"/>
                        </a:rPr>
                        <a:t>Pada</a:t>
                      </a:r>
                      <a:r>
                        <a:rPr lang="en-US" sz="1200" dirty="0" smtClean="0">
                          <a:effectLst/>
                          <a:latin typeface="Times New Roman"/>
                          <a:ea typeface="Calibri"/>
                        </a:rPr>
                        <a:t> SMK Islam Al-</a:t>
                      </a:r>
                      <a:r>
                        <a:rPr lang="en-US" sz="1200" dirty="0" err="1" smtClean="0">
                          <a:effectLst/>
                          <a:latin typeface="Times New Roman"/>
                          <a:ea typeface="Calibri"/>
                        </a:rPr>
                        <a:t>Arief</a:t>
                      </a:r>
                      <a:r>
                        <a:rPr lang="en-US" sz="1200" dirty="0" smtClean="0">
                          <a:effectLst/>
                          <a:latin typeface="Times New Roman"/>
                          <a:ea typeface="Calibri"/>
                        </a:rPr>
                        <a:t> </a:t>
                      </a:r>
                      <a:r>
                        <a:rPr lang="en-US" sz="1200" dirty="0" err="1" smtClean="0">
                          <a:effectLst/>
                          <a:latin typeface="Times New Roman"/>
                          <a:ea typeface="Calibri"/>
                        </a:rPr>
                        <a:t>Muaro</a:t>
                      </a:r>
                      <a:r>
                        <a:rPr lang="en-US" sz="1200" dirty="0" smtClean="0">
                          <a:effectLst/>
                          <a:latin typeface="Times New Roman"/>
                          <a:ea typeface="Calibri"/>
                        </a:rPr>
                        <a:t> Jambi</a:t>
                      </a:r>
                      <a:r>
                        <a:rPr kumimoji="0" lang="en-US" sz="1200" b="0" i="0" u="none" strike="noStrike" kern="1200" cap="none" spc="0" normalizeH="0" baseline="0" noProof="0" dirty="0" smtClean="0">
                          <a:ln>
                            <a:noFill/>
                          </a:ln>
                          <a:solidFill>
                            <a:prstClr val="black"/>
                          </a:solidFill>
                          <a:effectLst/>
                          <a:uLnTx/>
                          <a:uFillTx/>
                          <a:latin typeface="Times New Roman"/>
                          <a:ea typeface="Calibri"/>
                          <a:cs typeface="+mn-cs"/>
                        </a:rPr>
                        <a:t>.</a:t>
                      </a:r>
                      <a:endParaRPr kumimoji="0" lang="en-US"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smtClean="0">
                          <a:effectLst/>
                          <a:latin typeface="Times New Roman"/>
                          <a:ea typeface="Calibri"/>
                        </a:rPr>
                        <a:t>Multi Attribute Decision Making </a:t>
                      </a:r>
                      <a:r>
                        <a:rPr lang="en-US" sz="1200" dirty="0" err="1" smtClean="0">
                          <a:effectLst/>
                          <a:latin typeface="Times New Roman"/>
                          <a:ea typeface="Calibri"/>
                        </a:rPr>
                        <a:t>Metode</a:t>
                      </a:r>
                      <a:r>
                        <a:rPr lang="en-US" sz="1200" dirty="0" smtClean="0">
                          <a:effectLst/>
                          <a:latin typeface="Times New Roman"/>
                          <a:ea typeface="Calibri"/>
                        </a:rPr>
                        <a:t> </a:t>
                      </a:r>
                      <a:r>
                        <a:rPr lang="en-US" sz="1200" dirty="0" err="1" smtClean="0">
                          <a:effectLst/>
                          <a:latin typeface="Times New Roman"/>
                          <a:ea typeface="Calibri"/>
                        </a:rPr>
                        <a:t>Wighted</a:t>
                      </a:r>
                      <a:r>
                        <a:rPr lang="en-US" sz="1200" dirty="0" smtClean="0">
                          <a:effectLst/>
                          <a:latin typeface="Times New Roman"/>
                          <a:ea typeface="Calibri"/>
                        </a:rPr>
                        <a:t> Product (MADM WP).</a:t>
                      </a:r>
                      <a:endParaRPr kumimoji="0" lang="en-US" sz="1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err="1" smtClean="0">
                          <a:effectLst/>
                          <a:latin typeface="Times New Roman"/>
                          <a:ea typeface="Calibri"/>
                        </a:rPr>
                        <a:t>Hasil</a:t>
                      </a:r>
                      <a:r>
                        <a:rPr lang="en-US" sz="1200" dirty="0" smtClean="0">
                          <a:effectLst/>
                          <a:latin typeface="Times New Roman"/>
                          <a:ea typeface="Calibri"/>
                        </a:rPr>
                        <a:t> </a:t>
                      </a:r>
                      <a:r>
                        <a:rPr lang="en-US" sz="1200" dirty="0" err="1" smtClean="0">
                          <a:effectLst/>
                          <a:latin typeface="Times New Roman"/>
                          <a:ea typeface="Calibri"/>
                        </a:rPr>
                        <a:t>dari</a:t>
                      </a:r>
                      <a:r>
                        <a:rPr lang="en-US" sz="1200" dirty="0" smtClean="0">
                          <a:effectLst/>
                          <a:latin typeface="Times New Roman"/>
                          <a:ea typeface="Calibri"/>
                        </a:rPr>
                        <a:t> </a:t>
                      </a:r>
                      <a:r>
                        <a:rPr lang="en-US" sz="1200" dirty="0" err="1" smtClean="0">
                          <a:effectLst/>
                          <a:latin typeface="Times New Roman"/>
                          <a:ea typeface="Calibri"/>
                        </a:rPr>
                        <a:t>penelitian</a:t>
                      </a:r>
                      <a:r>
                        <a:rPr lang="en-US" sz="1200" dirty="0" smtClean="0">
                          <a:effectLst/>
                          <a:latin typeface="Times New Roman"/>
                          <a:ea typeface="Calibri"/>
                        </a:rPr>
                        <a:t> </a:t>
                      </a:r>
                      <a:r>
                        <a:rPr lang="en-US" sz="1200" dirty="0" err="1" smtClean="0">
                          <a:effectLst/>
                          <a:latin typeface="Times New Roman"/>
                          <a:ea typeface="Calibri"/>
                        </a:rPr>
                        <a:t>ini</a:t>
                      </a:r>
                      <a:r>
                        <a:rPr lang="en-US" sz="1200" dirty="0" smtClean="0">
                          <a:effectLst/>
                          <a:latin typeface="Times New Roman"/>
                          <a:ea typeface="Calibri"/>
                        </a:rPr>
                        <a:t> </a:t>
                      </a:r>
                      <a:r>
                        <a:rPr lang="en-US" sz="1200" dirty="0" err="1" smtClean="0">
                          <a:effectLst/>
                          <a:latin typeface="Times New Roman"/>
                          <a:ea typeface="Calibri"/>
                        </a:rPr>
                        <a:t>berupa</a:t>
                      </a:r>
                      <a:r>
                        <a:rPr lang="en-US" sz="1200" dirty="0" smtClean="0">
                          <a:effectLst/>
                          <a:latin typeface="Times New Roman"/>
                          <a:ea typeface="Calibri"/>
                        </a:rPr>
                        <a:t> </a:t>
                      </a:r>
                      <a:r>
                        <a:rPr lang="en-US" sz="1200" dirty="0" err="1" smtClean="0">
                          <a:effectLst/>
                          <a:latin typeface="Times New Roman"/>
                          <a:ea typeface="Calibri"/>
                        </a:rPr>
                        <a:t>sebuah</a:t>
                      </a:r>
                      <a:r>
                        <a:rPr lang="en-US" sz="1200" dirty="0" smtClean="0">
                          <a:effectLst/>
                          <a:latin typeface="Times New Roman"/>
                          <a:ea typeface="Calibri"/>
                        </a:rPr>
                        <a:t> </a:t>
                      </a:r>
                      <a:r>
                        <a:rPr lang="en-US" sz="1200" dirty="0" err="1" smtClean="0">
                          <a:effectLst/>
                          <a:latin typeface="Times New Roman"/>
                          <a:ea typeface="Calibri"/>
                        </a:rPr>
                        <a:t>sistem</a:t>
                      </a:r>
                      <a:r>
                        <a:rPr lang="en-US" sz="1200" dirty="0" smtClean="0">
                          <a:effectLst/>
                          <a:latin typeface="Times New Roman"/>
                          <a:ea typeface="Calibri"/>
                        </a:rPr>
                        <a:t> yang </a:t>
                      </a:r>
                      <a:r>
                        <a:rPr lang="en-US" sz="1200" dirty="0" err="1" smtClean="0">
                          <a:effectLst/>
                          <a:latin typeface="Times New Roman"/>
                          <a:ea typeface="Calibri"/>
                        </a:rPr>
                        <a:t>dapat</a:t>
                      </a:r>
                      <a:r>
                        <a:rPr lang="en-US" sz="1200" dirty="0" smtClean="0">
                          <a:effectLst/>
                          <a:latin typeface="Times New Roman"/>
                          <a:ea typeface="Calibri"/>
                        </a:rPr>
                        <a:t> </a:t>
                      </a:r>
                      <a:r>
                        <a:rPr lang="en-US" sz="1200" dirty="0" err="1" smtClean="0">
                          <a:effectLst/>
                          <a:latin typeface="Times New Roman"/>
                          <a:ea typeface="Calibri"/>
                        </a:rPr>
                        <a:t>memudahkan</a:t>
                      </a:r>
                      <a:r>
                        <a:rPr lang="en-US" sz="1200" dirty="0" smtClean="0">
                          <a:effectLst/>
                          <a:latin typeface="Times New Roman"/>
                          <a:ea typeface="Calibri"/>
                        </a:rPr>
                        <a:t> </a:t>
                      </a:r>
                      <a:r>
                        <a:rPr lang="en-US" sz="1200" dirty="0" err="1" smtClean="0">
                          <a:effectLst/>
                          <a:latin typeface="Times New Roman"/>
                          <a:ea typeface="Calibri"/>
                        </a:rPr>
                        <a:t>pihak</a:t>
                      </a:r>
                      <a:r>
                        <a:rPr lang="en-US" sz="1200" dirty="0" smtClean="0">
                          <a:effectLst/>
                          <a:latin typeface="Times New Roman"/>
                          <a:ea typeface="Calibri"/>
                        </a:rPr>
                        <a:t> </a:t>
                      </a:r>
                      <a:r>
                        <a:rPr lang="en-US" sz="1200" dirty="0" err="1" smtClean="0">
                          <a:effectLst/>
                          <a:latin typeface="Times New Roman"/>
                          <a:ea typeface="Calibri"/>
                        </a:rPr>
                        <a:t>sekolah</a:t>
                      </a:r>
                      <a:r>
                        <a:rPr lang="en-US" sz="1200" dirty="0" smtClean="0">
                          <a:effectLst/>
                          <a:latin typeface="Times New Roman"/>
                          <a:ea typeface="Calibri"/>
                        </a:rPr>
                        <a:t> </a:t>
                      </a:r>
                      <a:r>
                        <a:rPr lang="en-US" sz="1200" dirty="0" err="1" smtClean="0">
                          <a:effectLst/>
                          <a:latin typeface="Times New Roman"/>
                          <a:ea typeface="Calibri"/>
                        </a:rPr>
                        <a:t>untuk</a:t>
                      </a:r>
                      <a:r>
                        <a:rPr lang="en-US" sz="1200" dirty="0" smtClean="0">
                          <a:effectLst/>
                          <a:latin typeface="Times New Roman"/>
                          <a:ea typeface="Calibri"/>
                        </a:rPr>
                        <a:t> </a:t>
                      </a:r>
                      <a:r>
                        <a:rPr lang="en-US" sz="1200" dirty="0" err="1" smtClean="0">
                          <a:effectLst/>
                          <a:latin typeface="Times New Roman"/>
                          <a:ea typeface="Calibri"/>
                        </a:rPr>
                        <a:t>dapat</a:t>
                      </a:r>
                      <a:r>
                        <a:rPr lang="en-US" sz="1200" dirty="0" smtClean="0">
                          <a:effectLst/>
                          <a:latin typeface="Times New Roman"/>
                          <a:ea typeface="Calibri"/>
                        </a:rPr>
                        <a:t> </a:t>
                      </a:r>
                      <a:r>
                        <a:rPr lang="en-US" sz="1200" dirty="0" err="1" smtClean="0">
                          <a:effectLst/>
                          <a:latin typeface="Times New Roman"/>
                          <a:ea typeface="Calibri"/>
                        </a:rPr>
                        <a:t>memantau</a:t>
                      </a:r>
                      <a:r>
                        <a:rPr lang="en-US" sz="1200" dirty="0" smtClean="0">
                          <a:effectLst/>
                          <a:latin typeface="Times New Roman"/>
                          <a:ea typeface="Calibri"/>
                        </a:rPr>
                        <a:t> </a:t>
                      </a:r>
                      <a:r>
                        <a:rPr lang="en-US" sz="1200" dirty="0" err="1" smtClean="0">
                          <a:effectLst/>
                          <a:latin typeface="Times New Roman"/>
                          <a:ea typeface="Calibri"/>
                        </a:rPr>
                        <a:t>kinerja</a:t>
                      </a:r>
                      <a:r>
                        <a:rPr lang="en-US" sz="1200" dirty="0" smtClean="0">
                          <a:effectLst/>
                          <a:latin typeface="Times New Roman"/>
                          <a:ea typeface="Calibri"/>
                        </a:rPr>
                        <a:t> guru </a:t>
                      </a:r>
                      <a:r>
                        <a:rPr lang="en-US" sz="1200" dirty="0" err="1" smtClean="0">
                          <a:effectLst/>
                          <a:latin typeface="Times New Roman"/>
                          <a:ea typeface="Calibri"/>
                        </a:rPr>
                        <a:t>dengan</a:t>
                      </a:r>
                      <a:r>
                        <a:rPr lang="en-US" sz="1200" dirty="0" smtClean="0">
                          <a:effectLst/>
                          <a:latin typeface="Times New Roman"/>
                          <a:ea typeface="Calibri"/>
                        </a:rPr>
                        <a:t> </a:t>
                      </a:r>
                      <a:r>
                        <a:rPr lang="en-US" sz="1200" dirty="0" err="1" smtClean="0">
                          <a:effectLst/>
                          <a:latin typeface="Times New Roman"/>
                          <a:ea typeface="Calibri"/>
                        </a:rPr>
                        <a:t>informasi</a:t>
                      </a:r>
                      <a:r>
                        <a:rPr lang="en-US" sz="1200" dirty="0" smtClean="0">
                          <a:effectLst/>
                          <a:latin typeface="Times New Roman"/>
                          <a:ea typeface="Calibri"/>
                        </a:rPr>
                        <a:t> yang </a:t>
                      </a:r>
                      <a:r>
                        <a:rPr lang="en-US" sz="1200" dirty="0" err="1" smtClean="0">
                          <a:effectLst/>
                          <a:latin typeface="Times New Roman"/>
                          <a:ea typeface="Calibri"/>
                        </a:rPr>
                        <a:t>dihasilkan</a:t>
                      </a:r>
                      <a:r>
                        <a:rPr lang="en-US" sz="1200" dirty="0" smtClean="0">
                          <a:effectLst/>
                          <a:latin typeface="Times New Roman"/>
                          <a:ea typeface="Calibri"/>
                        </a:rPr>
                        <a:t> </a:t>
                      </a:r>
                      <a:r>
                        <a:rPr lang="en-US" sz="1200" dirty="0" err="1" smtClean="0">
                          <a:effectLst/>
                          <a:latin typeface="Times New Roman"/>
                          <a:ea typeface="Calibri"/>
                        </a:rPr>
                        <a:t>lebih</a:t>
                      </a:r>
                      <a:r>
                        <a:rPr lang="en-US" sz="1200" dirty="0" smtClean="0">
                          <a:effectLst/>
                          <a:latin typeface="Times New Roman"/>
                          <a:ea typeface="Calibri"/>
                        </a:rPr>
                        <a:t> </a:t>
                      </a:r>
                      <a:r>
                        <a:rPr lang="en-US" sz="1200" dirty="0" err="1" smtClean="0">
                          <a:effectLst/>
                          <a:latin typeface="Times New Roman"/>
                          <a:ea typeface="Calibri"/>
                        </a:rPr>
                        <a:t>lengkap</a:t>
                      </a:r>
                      <a:r>
                        <a:rPr lang="en-US" sz="1200" dirty="0" smtClean="0">
                          <a:effectLst/>
                          <a:latin typeface="Times New Roman"/>
                          <a:ea typeface="Calibri"/>
                        </a:rPr>
                        <a:t>, </a:t>
                      </a:r>
                      <a:r>
                        <a:rPr lang="en-US" sz="1200" dirty="0" err="1" smtClean="0">
                          <a:effectLst/>
                          <a:latin typeface="Times New Roman"/>
                          <a:ea typeface="Calibri"/>
                        </a:rPr>
                        <a:t>efektif</a:t>
                      </a:r>
                      <a:r>
                        <a:rPr lang="en-US" sz="1200" dirty="0" smtClean="0">
                          <a:effectLst/>
                          <a:latin typeface="Times New Roman"/>
                          <a:ea typeface="Calibri"/>
                        </a:rPr>
                        <a:t>, </a:t>
                      </a:r>
                      <a:r>
                        <a:rPr lang="en-US" sz="1200" dirty="0" err="1" smtClean="0">
                          <a:effectLst/>
                          <a:latin typeface="Times New Roman"/>
                          <a:ea typeface="Calibri"/>
                        </a:rPr>
                        <a:t>dan</a:t>
                      </a:r>
                      <a:r>
                        <a:rPr lang="en-US" sz="1200" dirty="0" smtClean="0">
                          <a:effectLst/>
                          <a:latin typeface="Times New Roman"/>
                          <a:ea typeface="Calibri"/>
                        </a:rPr>
                        <a:t> </a:t>
                      </a:r>
                      <a:r>
                        <a:rPr lang="en-US" sz="1200" dirty="0" err="1" smtClean="0">
                          <a:effectLst/>
                          <a:latin typeface="Times New Roman"/>
                          <a:ea typeface="Calibri"/>
                        </a:rPr>
                        <a:t>lebih</a:t>
                      </a:r>
                      <a:r>
                        <a:rPr lang="en-US" sz="1200" dirty="0" smtClean="0">
                          <a:effectLst/>
                          <a:latin typeface="Times New Roman"/>
                          <a:ea typeface="Calibri"/>
                        </a:rPr>
                        <a:t> </a:t>
                      </a:r>
                      <a:r>
                        <a:rPr lang="en-US" sz="1200" dirty="0" err="1" smtClean="0">
                          <a:effectLst/>
                          <a:latin typeface="Times New Roman"/>
                          <a:ea typeface="Calibri"/>
                        </a:rPr>
                        <a:t>cepat</a:t>
                      </a:r>
                      <a:r>
                        <a:rPr lang="en-US" sz="1200" dirty="0" smtClean="0">
                          <a:effectLst/>
                          <a:latin typeface="Times New Roman"/>
                          <a:ea typeface="Calibri"/>
                        </a:rPr>
                        <a:t>.</a:t>
                      </a:r>
                      <a:endParaRPr kumimoji="0" lang="en-US" sz="1200" b="0" i="0" u="none" strike="noStrike" kern="1200" cap="none" spc="0" normalizeH="0" baseline="0" noProof="0" dirty="0" smtClean="0">
                        <a:ln>
                          <a:noFill/>
                        </a:ln>
                        <a:solidFill>
                          <a:prstClr val="black"/>
                        </a:solidFill>
                        <a:effectLst/>
                        <a:uLnTx/>
                        <a:uFillTx/>
                        <a:latin typeface="Times New Roman" pitchFamily="18" charset="0"/>
                        <a:ea typeface="+mn-ea"/>
                        <a:cs typeface="Times New Roman" pitchFamily="18" charset="0"/>
                      </a:endParaRPr>
                    </a:p>
                  </a:txBody>
                  <a:tcP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r>
            </a:tbl>
          </a:graphicData>
        </a:graphic>
      </p:graphicFrame>
      <p:sp>
        <p:nvSpPr>
          <p:cNvPr id="4" name="Horizontal Scroll 3"/>
          <p:cNvSpPr/>
          <p:nvPr/>
        </p:nvSpPr>
        <p:spPr>
          <a:xfrm>
            <a:off x="3059832" y="188640"/>
            <a:ext cx="3024336" cy="720080"/>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latin typeface="Times New Roman" pitchFamily="18" charset="0"/>
                <a:cs typeface="Times New Roman" pitchFamily="18" charset="0"/>
              </a:rPr>
              <a:t>Penelitian</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Terdahulu</a:t>
            </a:r>
            <a:endParaRPr lang="en-US" b="1" dirty="0">
              <a:solidFill>
                <a:schemeClr val="tx1"/>
              </a:solidFill>
              <a:latin typeface="Times New Roman" pitchFamily="18" charset="0"/>
              <a:cs typeface="Times New Roman" pitchFamily="18" charset="0"/>
            </a:endParaRPr>
          </a:p>
        </p:txBody>
      </p:sp>
      <p:sp>
        <p:nvSpPr>
          <p:cNvPr id="5" name="Right Triangle 4"/>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95957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TextBox 1"/>
          <p:cNvSpPr txBox="1"/>
          <p:nvPr/>
        </p:nvSpPr>
        <p:spPr>
          <a:xfrm>
            <a:off x="1263208" y="2348880"/>
            <a:ext cx="6833608" cy="3000821"/>
          </a:xfrm>
          <a:prstGeom prst="rect">
            <a:avLst/>
          </a:prstGeom>
          <a:noFill/>
        </p:spPr>
        <p:txBody>
          <a:bodyPr wrap="square" rtlCol="0">
            <a:spAutoFit/>
          </a:bodyPr>
          <a:lstStyle/>
          <a:p>
            <a:pPr algn="just">
              <a:lnSpc>
                <a:spcPct val="150000"/>
              </a:lnSpc>
            </a:pPr>
            <a:r>
              <a:rPr lang="id-ID" dirty="0">
                <a:latin typeface="Times New Roman" pitchFamily="18" charset="0"/>
                <a:cs typeface="Times New Roman" pitchFamily="18" charset="0"/>
              </a:rPr>
              <a:t>Sistem pendukung keputusan merupakan sistem informasi yang menyediakan informasi pemodelan, dan permanipulasian </a:t>
            </a:r>
            <a:r>
              <a:rPr lang="id-ID" dirty="0" smtClean="0">
                <a:latin typeface="Times New Roman" pitchFamily="18" charset="0"/>
                <a:cs typeface="Times New Roman" pitchFamily="18" charset="0"/>
              </a:rPr>
              <a:t>data. Sistem pendukung keputusan didefenisikan sebagai sebuah sistem yang mampu menghasilkan pemecahan dan penanganan masalah. </a:t>
            </a:r>
            <a:r>
              <a:rPr lang="id-ID" dirty="0">
                <a:latin typeface="Times New Roman" pitchFamily="18" charset="0"/>
                <a:cs typeface="Times New Roman" pitchFamily="18" charset="0"/>
              </a:rPr>
              <a:t>Sistem pendukung keputusan tidak dimaksudkan untuk menggantikan peran pengambil keputusan, tetapi untuk membantu dan mendukung pengambil keputusan dalam mengambil </a:t>
            </a:r>
            <a:r>
              <a:rPr lang="id-ID" dirty="0" smtClean="0">
                <a:latin typeface="Times New Roman" pitchFamily="18" charset="0"/>
                <a:cs typeface="Times New Roman" pitchFamily="18" charset="0"/>
              </a:rPr>
              <a:t>keputusan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3" name="Horizontal Scroll 2"/>
          <p:cNvSpPr/>
          <p:nvPr/>
        </p:nvSpPr>
        <p:spPr>
          <a:xfrm>
            <a:off x="2411760" y="969167"/>
            <a:ext cx="4608512" cy="971917"/>
          </a:xfrm>
          <a:prstGeom prst="horizontalScroll">
            <a:avLst/>
          </a:prstGeom>
          <a:solidFill>
            <a:schemeClr val="accent1">
              <a:lumMod val="40000"/>
              <a:lumOff val="60000"/>
            </a:schemeClr>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latin typeface="Times New Roman" pitchFamily="18" charset="0"/>
                <a:cs typeface="Times New Roman" pitchFamily="18" charset="0"/>
              </a:rPr>
              <a:t>Pengertian</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Sistem</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Pendukung</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Keputusan</a:t>
            </a:r>
            <a:endParaRPr lang="en-US" b="1" dirty="0">
              <a:solidFill>
                <a:schemeClr val="tx1"/>
              </a:solidFill>
              <a:latin typeface="Times New Roman" pitchFamily="18" charset="0"/>
              <a:cs typeface="Times New Roman" pitchFamily="18" charset="0"/>
            </a:endParaRPr>
          </a:p>
        </p:txBody>
      </p:sp>
      <p:sp>
        <p:nvSpPr>
          <p:cNvPr id="4" name="Right Triangle 3"/>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45368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Horizontal Scroll 1"/>
          <p:cNvSpPr/>
          <p:nvPr/>
        </p:nvSpPr>
        <p:spPr>
          <a:xfrm>
            <a:off x="2339752" y="779299"/>
            <a:ext cx="4608512" cy="849501"/>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latin typeface="Times New Roman" pitchFamily="18" charset="0"/>
                <a:cs typeface="Times New Roman" pitchFamily="18" charset="0"/>
              </a:rPr>
              <a:t>Pengertian</a:t>
            </a:r>
            <a:r>
              <a:rPr lang="en-US" b="1" dirty="0" smtClean="0">
                <a:solidFill>
                  <a:schemeClr val="tx1"/>
                </a:solidFill>
                <a:latin typeface="Times New Roman" pitchFamily="18" charset="0"/>
                <a:cs typeface="Times New Roman" pitchFamily="18" charset="0"/>
              </a:rPr>
              <a:t> Simple Additive Weighting </a:t>
            </a:r>
            <a:endParaRPr lang="en-US" b="1" dirty="0">
              <a:solidFill>
                <a:schemeClr val="tx1"/>
              </a:solidFill>
              <a:latin typeface="Times New Roman" pitchFamily="18" charset="0"/>
              <a:cs typeface="Times New Roman" pitchFamily="18" charset="0"/>
            </a:endParaRPr>
          </a:p>
        </p:txBody>
      </p:sp>
      <p:sp>
        <p:nvSpPr>
          <p:cNvPr id="3" name="TextBox 2"/>
          <p:cNvSpPr txBox="1"/>
          <p:nvPr/>
        </p:nvSpPr>
        <p:spPr>
          <a:xfrm>
            <a:off x="1475656" y="2276872"/>
            <a:ext cx="6185349" cy="3416320"/>
          </a:xfrm>
          <a:prstGeom prst="rect">
            <a:avLst/>
          </a:prstGeom>
          <a:noFill/>
        </p:spPr>
        <p:txBody>
          <a:bodyPr wrap="square" rtlCol="0">
            <a:spAutoFit/>
          </a:bodyPr>
          <a:lstStyle/>
          <a:p>
            <a:pPr algn="just">
              <a:lnSpc>
                <a:spcPct val="150000"/>
              </a:lnSpc>
            </a:pPr>
            <a:r>
              <a:rPr lang="id-ID" i="1" dirty="0">
                <a:latin typeface="Times New Roman" pitchFamily="18" charset="0"/>
                <a:cs typeface="Times New Roman" pitchFamily="18" charset="0"/>
              </a:rPr>
              <a:t>Metode Simple Additive Weighting</a:t>
            </a:r>
            <a:r>
              <a:rPr lang="id-ID" dirty="0">
                <a:latin typeface="Times New Roman" pitchFamily="18" charset="0"/>
                <a:cs typeface="Times New Roman" pitchFamily="18" charset="0"/>
              </a:rPr>
              <a:t> (SAW) secara umum dikenal dengan istilah metode penjumlahan terbobot. Konsep dasar metode SAW adalah mencari penjumlahan terbobot dari rating kinerja pada setiap alternatif untuk semua atribut. </a:t>
            </a:r>
            <a:r>
              <a:rPr lang="en-US" dirty="0" err="1">
                <a:latin typeface="Times New Roman"/>
                <a:ea typeface="Calibri"/>
              </a:rPr>
              <a:t>Dalam</a:t>
            </a:r>
            <a:r>
              <a:rPr lang="en-US" dirty="0">
                <a:latin typeface="Times New Roman"/>
                <a:ea typeface="Calibri"/>
              </a:rPr>
              <a:t> </a:t>
            </a:r>
            <a:r>
              <a:rPr lang="en-US" dirty="0" err="1">
                <a:latin typeface="Times New Roman"/>
                <a:ea typeface="Calibri"/>
              </a:rPr>
              <a:t>metode</a:t>
            </a:r>
            <a:r>
              <a:rPr lang="en-US" dirty="0">
                <a:latin typeface="Times New Roman"/>
                <a:ea typeface="Calibri"/>
              </a:rPr>
              <a:t> SAW </a:t>
            </a:r>
            <a:r>
              <a:rPr lang="en-US" dirty="0" err="1">
                <a:latin typeface="Times New Roman"/>
                <a:ea typeface="Calibri"/>
              </a:rPr>
              <a:t>mengenal</a:t>
            </a:r>
            <a:r>
              <a:rPr lang="en-US" dirty="0">
                <a:latin typeface="Times New Roman"/>
                <a:ea typeface="Calibri"/>
              </a:rPr>
              <a:t> </a:t>
            </a:r>
            <a:r>
              <a:rPr lang="en-US" dirty="0" err="1">
                <a:latin typeface="Times New Roman"/>
                <a:ea typeface="Calibri"/>
              </a:rPr>
              <a:t>dua</a:t>
            </a:r>
            <a:r>
              <a:rPr lang="en-US" dirty="0">
                <a:latin typeface="Times New Roman"/>
                <a:ea typeface="Calibri"/>
              </a:rPr>
              <a:t> </a:t>
            </a:r>
            <a:r>
              <a:rPr lang="en-US" dirty="0" err="1">
                <a:latin typeface="Times New Roman"/>
                <a:ea typeface="Calibri"/>
              </a:rPr>
              <a:t>jenis</a:t>
            </a:r>
            <a:r>
              <a:rPr lang="en-US" dirty="0">
                <a:latin typeface="Times New Roman"/>
                <a:ea typeface="Calibri"/>
              </a:rPr>
              <a:t> </a:t>
            </a:r>
            <a:r>
              <a:rPr lang="en-US" dirty="0" err="1">
                <a:latin typeface="Times New Roman"/>
                <a:ea typeface="Calibri"/>
              </a:rPr>
              <a:t>kriteria</a:t>
            </a:r>
            <a:r>
              <a:rPr lang="en-US" dirty="0">
                <a:latin typeface="Times New Roman"/>
                <a:ea typeface="Calibri"/>
              </a:rPr>
              <a:t> </a:t>
            </a:r>
            <a:r>
              <a:rPr lang="en-US" dirty="0" err="1">
                <a:latin typeface="Times New Roman"/>
                <a:ea typeface="Calibri"/>
              </a:rPr>
              <a:t>yaitu</a:t>
            </a:r>
            <a:r>
              <a:rPr lang="en-US" dirty="0">
                <a:latin typeface="Times New Roman"/>
                <a:ea typeface="Calibri"/>
              </a:rPr>
              <a:t> </a:t>
            </a:r>
            <a:r>
              <a:rPr lang="en-US" i="1" dirty="0">
                <a:latin typeface="Times New Roman"/>
                <a:ea typeface="Calibri"/>
              </a:rPr>
              <a:t>Cost</a:t>
            </a:r>
            <a:r>
              <a:rPr lang="en-US" dirty="0">
                <a:latin typeface="Times New Roman"/>
                <a:ea typeface="Calibri"/>
              </a:rPr>
              <a:t> (</a:t>
            </a:r>
            <a:r>
              <a:rPr lang="en-US" dirty="0" err="1">
                <a:latin typeface="Times New Roman"/>
                <a:ea typeface="Calibri"/>
              </a:rPr>
              <a:t>biaya</a:t>
            </a:r>
            <a:r>
              <a:rPr lang="en-US" dirty="0">
                <a:latin typeface="Times New Roman"/>
                <a:ea typeface="Calibri"/>
              </a:rPr>
              <a:t>) </a:t>
            </a:r>
            <a:r>
              <a:rPr lang="en-US" dirty="0" err="1">
                <a:latin typeface="Times New Roman"/>
                <a:ea typeface="Calibri"/>
              </a:rPr>
              <a:t>dan</a:t>
            </a:r>
            <a:r>
              <a:rPr lang="en-US" dirty="0">
                <a:latin typeface="Times New Roman"/>
                <a:ea typeface="Calibri"/>
              </a:rPr>
              <a:t> </a:t>
            </a:r>
            <a:r>
              <a:rPr lang="en-US" i="1" dirty="0">
                <a:latin typeface="Times New Roman"/>
                <a:ea typeface="Calibri"/>
              </a:rPr>
              <a:t>Benefit</a:t>
            </a:r>
            <a:r>
              <a:rPr lang="en-US" dirty="0">
                <a:latin typeface="Times New Roman"/>
                <a:ea typeface="Calibri"/>
              </a:rPr>
              <a:t> (</a:t>
            </a:r>
            <a:r>
              <a:rPr lang="en-US" dirty="0" err="1">
                <a:latin typeface="Times New Roman"/>
                <a:ea typeface="Calibri"/>
              </a:rPr>
              <a:t>keuntungan</a:t>
            </a:r>
            <a:r>
              <a:rPr lang="en-US" dirty="0">
                <a:latin typeface="Times New Roman"/>
                <a:ea typeface="Calibri"/>
              </a:rPr>
              <a:t>). </a:t>
            </a:r>
            <a:r>
              <a:rPr lang="en-US" i="1" dirty="0">
                <a:latin typeface="Times New Roman"/>
                <a:ea typeface="Calibri"/>
              </a:rPr>
              <a:t>Cost</a:t>
            </a:r>
            <a:r>
              <a:rPr lang="en-US" dirty="0">
                <a:latin typeface="Times New Roman"/>
                <a:ea typeface="Calibri"/>
              </a:rPr>
              <a:t> </a:t>
            </a:r>
            <a:r>
              <a:rPr lang="en-US" dirty="0" err="1">
                <a:latin typeface="Times New Roman"/>
                <a:ea typeface="Calibri"/>
              </a:rPr>
              <a:t>adalah</a:t>
            </a:r>
            <a:r>
              <a:rPr lang="en-US" dirty="0">
                <a:latin typeface="Times New Roman"/>
                <a:ea typeface="Calibri"/>
              </a:rPr>
              <a:t> </a:t>
            </a:r>
            <a:r>
              <a:rPr lang="en-US" dirty="0" err="1">
                <a:latin typeface="Times New Roman"/>
                <a:ea typeface="Calibri"/>
              </a:rPr>
              <a:t>jenis</a:t>
            </a:r>
            <a:r>
              <a:rPr lang="en-US" dirty="0">
                <a:latin typeface="Times New Roman"/>
                <a:ea typeface="Calibri"/>
              </a:rPr>
              <a:t> </a:t>
            </a:r>
            <a:r>
              <a:rPr lang="en-US" dirty="0" err="1">
                <a:latin typeface="Times New Roman"/>
                <a:ea typeface="Calibri"/>
              </a:rPr>
              <a:t>kriteria</a:t>
            </a:r>
            <a:r>
              <a:rPr lang="en-US" dirty="0">
                <a:latin typeface="Times New Roman"/>
                <a:ea typeface="Calibri"/>
              </a:rPr>
              <a:t> yang </a:t>
            </a:r>
            <a:r>
              <a:rPr lang="en-US" dirty="0" err="1">
                <a:latin typeface="Times New Roman"/>
                <a:ea typeface="Calibri"/>
              </a:rPr>
              <a:t>mengutamakan</a:t>
            </a:r>
            <a:r>
              <a:rPr lang="en-US" dirty="0">
                <a:latin typeface="Times New Roman"/>
                <a:ea typeface="Calibri"/>
              </a:rPr>
              <a:t> </a:t>
            </a:r>
            <a:r>
              <a:rPr lang="en-US" dirty="0" err="1">
                <a:latin typeface="Times New Roman"/>
                <a:ea typeface="Calibri"/>
              </a:rPr>
              <a:t>nilai</a:t>
            </a:r>
            <a:r>
              <a:rPr lang="en-US" dirty="0">
                <a:latin typeface="Times New Roman"/>
                <a:ea typeface="Calibri"/>
              </a:rPr>
              <a:t> </a:t>
            </a:r>
            <a:r>
              <a:rPr lang="en-US" dirty="0" err="1">
                <a:latin typeface="Times New Roman"/>
                <a:ea typeface="Calibri"/>
              </a:rPr>
              <a:t>terendah</a:t>
            </a:r>
            <a:r>
              <a:rPr lang="en-US" dirty="0">
                <a:latin typeface="Times New Roman"/>
                <a:ea typeface="Calibri"/>
              </a:rPr>
              <a:t>. </a:t>
            </a:r>
            <a:r>
              <a:rPr lang="en-US" dirty="0" err="1">
                <a:latin typeface="Times New Roman"/>
                <a:ea typeface="Calibri"/>
              </a:rPr>
              <a:t>Sedangkan</a:t>
            </a:r>
            <a:r>
              <a:rPr lang="en-US" dirty="0">
                <a:latin typeface="Times New Roman"/>
                <a:ea typeface="Calibri"/>
              </a:rPr>
              <a:t> </a:t>
            </a:r>
            <a:r>
              <a:rPr lang="en-US" i="1" dirty="0">
                <a:latin typeface="Times New Roman"/>
                <a:ea typeface="Calibri"/>
              </a:rPr>
              <a:t>benefit</a:t>
            </a:r>
            <a:r>
              <a:rPr lang="en-US" dirty="0">
                <a:latin typeface="Times New Roman"/>
                <a:ea typeface="Calibri"/>
              </a:rPr>
              <a:t> </a:t>
            </a:r>
            <a:r>
              <a:rPr lang="en-US" dirty="0" err="1">
                <a:latin typeface="Times New Roman"/>
                <a:ea typeface="Calibri"/>
              </a:rPr>
              <a:t>adalah</a:t>
            </a:r>
            <a:r>
              <a:rPr lang="en-US" dirty="0">
                <a:latin typeface="Times New Roman"/>
                <a:ea typeface="Calibri"/>
              </a:rPr>
              <a:t> </a:t>
            </a:r>
            <a:r>
              <a:rPr lang="en-US" dirty="0" err="1">
                <a:latin typeface="Times New Roman"/>
                <a:ea typeface="Calibri"/>
              </a:rPr>
              <a:t>jenis</a:t>
            </a:r>
            <a:r>
              <a:rPr lang="en-US" dirty="0">
                <a:latin typeface="Times New Roman"/>
                <a:ea typeface="Calibri"/>
              </a:rPr>
              <a:t> </a:t>
            </a:r>
            <a:r>
              <a:rPr lang="en-US" dirty="0" err="1">
                <a:latin typeface="Times New Roman"/>
                <a:ea typeface="Calibri"/>
              </a:rPr>
              <a:t>kriteria</a:t>
            </a:r>
            <a:r>
              <a:rPr lang="en-US" dirty="0">
                <a:latin typeface="Times New Roman"/>
                <a:ea typeface="Calibri"/>
              </a:rPr>
              <a:t> yang </a:t>
            </a:r>
            <a:r>
              <a:rPr lang="en-US" dirty="0" err="1">
                <a:latin typeface="Times New Roman"/>
                <a:ea typeface="Calibri"/>
              </a:rPr>
              <a:t>mengutamakan</a:t>
            </a:r>
            <a:r>
              <a:rPr lang="en-US" dirty="0">
                <a:latin typeface="Times New Roman"/>
                <a:ea typeface="Calibri"/>
              </a:rPr>
              <a:t> </a:t>
            </a:r>
            <a:r>
              <a:rPr lang="en-US" dirty="0" err="1">
                <a:latin typeface="Times New Roman"/>
                <a:ea typeface="Calibri"/>
              </a:rPr>
              <a:t>nilai</a:t>
            </a:r>
            <a:r>
              <a:rPr lang="en-US" dirty="0">
                <a:latin typeface="Times New Roman"/>
                <a:ea typeface="Calibri"/>
              </a:rPr>
              <a:t> </a:t>
            </a:r>
            <a:r>
              <a:rPr lang="en-US" dirty="0" err="1">
                <a:latin typeface="Times New Roman"/>
                <a:ea typeface="Calibri"/>
              </a:rPr>
              <a:t>tertinggi</a:t>
            </a:r>
            <a:r>
              <a:rPr lang="en-US" dirty="0">
                <a:latin typeface="Times New Roman"/>
                <a:ea typeface="Calibri"/>
              </a:rPr>
              <a:t> </a:t>
            </a:r>
            <a:r>
              <a:rPr lang="en-US" dirty="0" err="1">
                <a:latin typeface="Times New Roman"/>
                <a:ea typeface="Calibri"/>
              </a:rPr>
              <a:t>sebagai</a:t>
            </a:r>
            <a:r>
              <a:rPr lang="en-US" dirty="0">
                <a:latin typeface="Times New Roman"/>
                <a:ea typeface="Calibri"/>
              </a:rPr>
              <a:t> </a:t>
            </a:r>
            <a:r>
              <a:rPr lang="en-US" dirty="0" err="1">
                <a:latin typeface="Times New Roman"/>
                <a:ea typeface="Calibri"/>
              </a:rPr>
              <a:t>acuan</a:t>
            </a:r>
            <a:r>
              <a:rPr lang="en-US" dirty="0">
                <a:latin typeface="Times New Roman"/>
                <a:ea typeface="Calibri"/>
              </a:rPr>
              <a:t> </a:t>
            </a:r>
            <a:r>
              <a:rPr lang="en-US" dirty="0" err="1" smtClean="0">
                <a:latin typeface="Times New Roman"/>
                <a:ea typeface="Calibri"/>
              </a:rPr>
              <a:t>pemilihan</a:t>
            </a:r>
            <a:r>
              <a:rPr lang="en-US" dirty="0">
                <a:latin typeface="Times New Roman"/>
                <a:ea typeface="Calibri"/>
              </a:rPr>
              <a:t>.</a:t>
            </a:r>
            <a:r>
              <a:rPr lang="en-US" dirty="0" smtClean="0">
                <a:latin typeface="Times New Roman"/>
                <a:ea typeface="Calibri"/>
              </a:rPr>
              <a:t> </a:t>
            </a:r>
            <a:endParaRPr lang="en-US" dirty="0">
              <a:latin typeface="Times New Roman" pitchFamily="18" charset="0"/>
              <a:cs typeface="Times New Roman" pitchFamily="18" charset="0"/>
            </a:endParaRPr>
          </a:p>
        </p:txBody>
      </p:sp>
      <p:sp>
        <p:nvSpPr>
          <p:cNvPr id="4" name="Right Triangle 3"/>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61405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TextBox 1"/>
          <p:cNvSpPr txBox="1"/>
          <p:nvPr/>
        </p:nvSpPr>
        <p:spPr>
          <a:xfrm>
            <a:off x="539551" y="1268760"/>
            <a:ext cx="7704857" cy="4524315"/>
          </a:xfrm>
          <a:prstGeom prst="rect">
            <a:avLst/>
          </a:prstGeom>
          <a:noFill/>
        </p:spPr>
        <p:txBody>
          <a:bodyPr wrap="square" rtlCol="0">
            <a:spAutoFit/>
          </a:bodyPr>
          <a:lstStyle/>
          <a:p>
            <a:pPr marL="342900" lvl="0" indent="-342900" algn="just">
              <a:lnSpc>
                <a:spcPct val="150000"/>
              </a:lnSpc>
              <a:buFont typeface="+mj-lt"/>
              <a:buAutoNum type="arabicParenR"/>
            </a:pPr>
            <a:r>
              <a:rPr lang="id-ID" sz="1600" dirty="0">
                <a:latin typeface="Times New Roman" pitchFamily="18" charset="0"/>
                <a:cs typeface="Times New Roman" pitchFamily="18" charset="0"/>
              </a:rPr>
              <a:t>Menentukan alternatif (Ai)</a:t>
            </a:r>
            <a:endParaRPr lang="en-US" sz="1600" dirty="0">
              <a:latin typeface="Times New Roman" pitchFamily="18" charset="0"/>
              <a:cs typeface="Times New Roman" pitchFamily="18" charset="0"/>
            </a:endParaRPr>
          </a:p>
          <a:p>
            <a:pPr marL="342900" lvl="0" indent="-342900" algn="just">
              <a:lnSpc>
                <a:spcPct val="150000"/>
              </a:lnSpc>
              <a:buFont typeface="+mj-lt"/>
              <a:buAutoNum type="arabicParenR"/>
            </a:pPr>
            <a:r>
              <a:rPr lang="id-ID" sz="1600" dirty="0">
                <a:latin typeface="Times New Roman" pitchFamily="18" charset="0"/>
                <a:cs typeface="Times New Roman" pitchFamily="18" charset="0"/>
              </a:rPr>
              <a:t>Menentukan kriteria yang akan dijadikan acuan dalam pengambilan keputusan (</a:t>
            </a:r>
            <a:r>
              <a:rPr lang="id-ID" sz="1600" dirty="0" smtClean="0">
                <a:latin typeface="Times New Roman" pitchFamily="18" charset="0"/>
                <a:cs typeface="Times New Roman" pitchFamily="18" charset="0"/>
              </a:rPr>
              <a:t>Cj)</a:t>
            </a:r>
            <a:endParaRPr lang="en-US" sz="1600" dirty="0">
              <a:latin typeface="Times New Roman" pitchFamily="18" charset="0"/>
              <a:cs typeface="Times New Roman" pitchFamily="18" charset="0"/>
            </a:endParaRPr>
          </a:p>
          <a:p>
            <a:pPr marL="342900" lvl="0" indent="-342900" algn="just">
              <a:lnSpc>
                <a:spcPct val="150000"/>
              </a:lnSpc>
              <a:buFont typeface="+mj-lt"/>
              <a:buAutoNum type="arabicParenR"/>
            </a:pPr>
            <a:r>
              <a:rPr lang="id-ID" sz="1600" dirty="0" smtClean="0">
                <a:latin typeface="Times New Roman" pitchFamily="18" charset="0"/>
                <a:cs typeface="Times New Roman" pitchFamily="18" charset="0"/>
              </a:rPr>
              <a:t>Menentukan </a:t>
            </a:r>
            <a:r>
              <a:rPr lang="id-ID" sz="1600" dirty="0">
                <a:latin typeface="Times New Roman" pitchFamily="18" charset="0"/>
                <a:cs typeface="Times New Roman" pitchFamily="18" charset="0"/>
              </a:rPr>
              <a:t>bobot preferensi atau tingkat kepentingan (W) setiap </a:t>
            </a:r>
            <a:r>
              <a:rPr lang="id-ID" sz="1600" dirty="0" smtClean="0">
                <a:latin typeface="Times New Roman" pitchFamily="18" charset="0"/>
                <a:cs typeface="Times New Roman" pitchFamily="18" charset="0"/>
              </a:rPr>
              <a:t>kriteria</a:t>
            </a:r>
            <a:endParaRPr lang="en-US" sz="1600" dirty="0">
              <a:latin typeface="Times New Roman" pitchFamily="18" charset="0"/>
              <a:cs typeface="Times New Roman" pitchFamily="18" charset="0"/>
            </a:endParaRPr>
          </a:p>
          <a:p>
            <a:pPr marL="342900" lvl="0" indent="-342900" algn="just">
              <a:lnSpc>
                <a:spcPct val="150000"/>
              </a:lnSpc>
              <a:buFont typeface="+mj-lt"/>
              <a:buAutoNum type="arabicParenR"/>
            </a:pPr>
            <a:r>
              <a:rPr lang="id-ID" sz="1600" dirty="0" smtClean="0">
                <a:latin typeface="Times New Roman" pitchFamily="18" charset="0"/>
                <a:cs typeface="Times New Roman" pitchFamily="18" charset="0"/>
              </a:rPr>
              <a:t>Menentukn </a:t>
            </a:r>
            <a:r>
              <a:rPr lang="id-ID" sz="1600" dirty="0">
                <a:latin typeface="Times New Roman" pitchFamily="18" charset="0"/>
                <a:cs typeface="Times New Roman" pitchFamily="18" charset="0"/>
              </a:rPr>
              <a:t>nilai kecocokan setiap </a:t>
            </a:r>
            <a:r>
              <a:rPr lang="id-ID" sz="1600" dirty="0" smtClean="0">
                <a:latin typeface="Times New Roman" pitchFamily="18" charset="0"/>
                <a:cs typeface="Times New Roman" pitchFamily="18" charset="0"/>
              </a:rPr>
              <a:t>kriteria</a:t>
            </a:r>
            <a:endParaRPr lang="en-US" sz="1600" dirty="0">
              <a:latin typeface="Times New Roman" pitchFamily="18" charset="0"/>
              <a:cs typeface="Times New Roman" pitchFamily="18" charset="0"/>
            </a:endParaRPr>
          </a:p>
          <a:p>
            <a:pPr marL="342900" lvl="0" indent="-342900" algn="just">
              <a:lnSpc>
                <a:spcPct val="150000"/>
              </a:lnSpc>
              <a:buFont typeface="+mj-lt"/>
              <a:buAutoNum type="arabicParenR"/>
            </a:pPr>
            <a:r>
              <a:rPr lang="id-ID" sz="1600" dirty="0" smtClean="0">
                <a:latin typeface="Times New Roman" pitchFamily="18" charset="0"/>
                <a:cs typeface="Times New Roman" pitchFamily="18" charset="0"/>
              </a:rPr>
              <a:t>Membuat </a:t>
            </a:r>
            <a:r>
              <a:rPr lang="id-ID" sz="1600" dirty="0">
                <a:latin typeface="Times New Roman" pitchFamily="18" charset="0"/>
                <a:cs typeface="Times New Roman" pitchFamily="18" charset="0"/>
              </a:rPr>
              <a:t>matriks keputusan (X) yang didapat dari rating kecocokan pada setiap alternatif (Ai) dengan setiap kriteria (Cj)  </a:t>
            </a:r>
            <a:endParaRPr lang="en-US" sz="1600" dirty="0">
              <a:latin typeface="Times New Roman" pitchFamily="18" charset="0"/>
              <a:cs typeface="Times New Roman" pitchFamily="18" charset="0"/>
            </a:endParaRPr>
          </a:p>
          <a:p>
            <a:pPr marL="342900" lvl="0" indent="-342900" algn="just">
              <a:lnSpc>
                <a:spcPct val="150000"/>
              </a:lnSpc>
              <a:buFont typeface="+mj-lt"/>
              <a:buAutoNum type="arabicParenR"/>
            </a:pPr>
            <a:r>
              <a:rPr lang="id-ID" sz="1600" dirty="0" smtClean="0">
                <a:latin typeface="Times New Roman" pitchFamily="18" charset="0"/>
                <a:cs typeface="Times New Roman" pitchFamily="18" charset="0"/>
              </a:rPr>
              <a:t>Melakukan </a:t>
            </a:r>
            <a:r>
              <a:rPr lang="id-ID" sz="1600" dirty="0">
                <a:latin typeface="Times New Roman" pitchFamily="18" charset="0"/>
                <a:cs typeface="Times New Roman" pitchFamily="18" charset="0"/>
              </a:rPr>
              <a:t>langkah normalisasi matriks keputusan  (X) dengan cara menghitung nilai rating kinerja ternormalisasi (Rij) dari alternatif (Ai) pada kriteria (</a:t>
            </a:r>
            <a:r>
              <a:rPr lang="id-ID" sz="1600" dirty="0" smtClean="0">
                <a:latin typeface="Times New Roman" pitchFamily="18" charset="0"/>
                <a:cs typeface="Times New Roman" pitchFamily="18" charset="0"/>
              </a:rPr>
              <a:t>Cj)</a:t>
            </a:r>
            <a:endParaRPr lang="en-US" sz="1600" dirty="0">
              <a:latin typeface="Times New Roman" pitchFamily="18" charset="0"/>
              <a:cs typeface="Times New Roman" pitchFamily="18" charset="0"/>
            </a:endParaRPr>
          </a:p>
          <a:p>
            <a:pPr marL="342900" lvl="0" indent="-342900" algn="just">
              <a:lnSpc>
                <a:spcPct val="150000"/>
              </a:lnSpc>
              <a:buFont typeface="+mj-lt"/>
              <a:buAutoNum type="arabicParenR"/>
            </a:pPr>
            <a:r>
              <a:rPr lang="id-ID" sz="1600" dirty="0" smtClean="0">
                <a:latin typeface="Times New Roman" pitchFamily="18" charset="0"/>
                <a:cs typeface="Times New Roman" pitchFamily="18" charset="0"/>
              </a:rPr>
              <a:t>Hasil </a:t>
            </a:r>
            <a:r>
              <a:rPr lang="id-ID" sz="1600" dirty="0">
                <a:latin typeface="Times New Roman" pitchFamily="18" charset="0"/>
                <a:cs typeface="Times New Roman" pitchFamily="18" charset="0"/>
              </a:rPr>
              <a:t>dari normalisasi (Rij) membentuk matriks ternormalisasi (</a:t>
            </a:r>
            <a:r>
              <a:rPr lang="id-ID" sz="1600" dirty="0" smtClean="0">
                <a:latin typeface="Times New Roman" pitchFamily="18" charset="0"/>
                <a:cs typeface="Times New Roman" pitchFamily="18" charset="0"/>
              </a:rPr>
              <a:t>R)</a:t>
            </a:r>
            <a:endParaRPr lang="en-US" sz="1600" dirty="0">
              <a:latin typeface="Times New Roman" pitchFamily="18" charset="0"/>
              <a:cs typeface="Times New Roman" pitchFamily="18" charset="0"/>
            </a:endParaRPr>
          </a:p>
          <a:p>
            <a:pPr marL="342900" lvl="0" indent="-342900" algn="just">
              <a:lnSpc>
                <a:spcPct val="150000"/>
              </a:lnSpc>
              <a:buFont typeface="+mj-lt"/>
              <a:buAutoNum type="arabicParenR"/>
            </a:pPr>
            <a:r>
              <a:rPr lang="id-ID" sz="1600" dirty="0" smtClean="0">
                <a:latin typeface="Times New Roman" pitchFamily="18" charset="0"/>
                <a:cs typeface="Times New Roman" pitchFamily="18" charset="0"/>
              </a:rPr>
              <a:t>Hasil </a:t>
            </a:r>
            <a:r>
              <a:rPr lang="id-ID" sz="1600" dirty="0">
                <a:latin typeface="Times New Roman" pitchFamily="18" charset="0"/>
                <a:cs typeface="Times New Roman" pitchFamily="18" charset="0"/>
              </a:rPr>
              <a:t>akhir nilai preferensi (Vi) diperoleh dari penjumlahan perkalian elemen baris matriks ternormalisasi (R) dengan bobot preferensi (W) yang bersesuaian elemen kolom matriks (W)</a:t>
            </a:r>
            <a:endParaRPr lang="en-US" sz="1600" dirty="0">
              <a:latin typeface="Times New Roman" pitchFamily="18" charset="0"/>
              <a:cs typeface="Times New Roman" pitchFamily="18" charset="0"/>
            </a:endParaRPr>
          </a:p>
        </p:txBody>
      </p:sp>
      <p:sp>
        <p:nvSpPr>
          <p:cNvPr id="3" name="Horizontal Scroll 2"/>
          <p:cNvSpPr/>
          <p:nvPr/>
        </p:nvSpPr>
        <p:spPr>
          <a:xfrm>
            <a:off x="2301549" y="116632"/>
            <a:ext cx="4896544" cy="864096"/>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latin typeface="Times New Roman" pitchFamily="18" charset="0"/>
                <a:cs typeface="Times New Roman" pitchFamily="18" charset="0"/>
              </a:rPr>
              <a:t>Langkah-langkah</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Perhitungan</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Metode</a:t>
            </a:r>
            <a:r>
              <a:rPr lang="en-US" b="1" dirty="0" smtClean="0">
                <a:solidFill>
                  <a:schemeClr val="tx1"/>
                </a:solidFill>
                <a:latin typeface="Times New Roman" pitchFamily="18" charset="0"/>
                <a:cs typeface="Times New Roman" pitchFamily="18" charset="0"/>
              </a:rPr>
              <a:t> SAW</a:t>
            </a:r>
            <a:endParaRPr lang="en-US" b="1" dirty="0">
              <a:solidFill>
                <a:schemeClr val="tx1"/>
              </a:solidFill>
              <a:latin typeface="Times New Roman" pitchFamily="18" charset="0"/>
              <a:cs typeface="Times New Roman" pitchFamily="18" charset="0"/>
            </a:endParaRPr>
          </a:p>
        </p:txBody>
      </p:sp>
      <p:sp>
        <p:nvSpPr>
          <p:cNvPr id="4" name="Right Triangle 3"/>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58282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3" name="Horizontal Scroll 2"/>
          <p:cNvSpPr/>
          <p:nvPr/>
        </p:nvSpPr>
        <p:spPr>
          <a:xfrm>
            <a:off x="2465310" y="404664"/>
            <a:ext cx="3888432" cy="817473"/>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latin typeface="Times New Roman" pitchFamily="18" charset="0"/>
                <a:cs typeface="Times New Roman" pitchFamily="18" charset="0"/>
              </a:rPr>
              <a:t>Pengertian</a:t>
            </a:r>
            <a:r>
              <a:rPr lang="en-US" b="1" dirty="0" smtClean="0">
                <a:solidFill>
                  <a:schemeClr val="tx1"/>
                </a:solidFill>
                <a:latin typeface="Times New Roman" pitchFamily="18" charset="0"/>
                <a:cs typeface="Times New Roman" pitchFamily="18" charset="0"/>
              </a:rPr>
              <a:t> Guru</a:t>
            </a:r>
            <a:endParaRPr lang="en-US" b="1" dirty="0">
              <a:solidFill>
                <a:schemeClr val="tx1"/>
              </a:solidFill>
              <a:latin typeface="Times New Roman" pitchFamily="18" charset="0"/>
              <a:cs typeface="Times New Roman" pitchFamily="18" charset="0"/>
            </a:endParaRPr>
          </a:p>
        </p:txBody>
      </p:sp>
      <p:sp>
        <p:nvSpPr>
          <p:cNvPr id="5" name="Rounded Rectangle 4"/>
          <p:cNvSpPr/>
          <p:nvPr/>
        </p:nvSpPr>
        <p:spPr>
          <a:xfrm>
            <a:off x="467544" y="1556792"/>
            <a:ext cx="4104456" cy="2844316"/>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id-ID" dirty="0">
                <a:solidFill>
                  <a:prstClr val="black"/>
                </a:solidFill>
                <a:latin typeface="Times New Roman" pitchFamily="18" charset="0"/>
                <a:cs typeface="Times New Roman" pitchFamily="18" charset="0"/>
              </a:rPr>
              <a:t>Guru adalah </a:t>
            </a:r>
            <a:r>
              <a:rPr lang="en-US" dirty="0" err="1">
                <a:solidFill>
                  <a:prstClr val="black"/>
                </a:solidFill>
                <a:latin typeface="Times New Roman" pitchFamily="18" charset="0"/>
                <a:cs typeface="Times New Roman" pitchFamily="18" charset="0"/>
              </a:rPr>
              <a:t>sosok</a:t>
            </a:r>
            <a:r>
              <a:rPr lang="en-US" dirty="0">
                <a:solidFill>
                  <a:prstClr val="black"/>
                </a:solidFill>
                <a:latin typeface="Times New Roman" pitchFamily="18" charset="0"/>
                <a:cs typeface="Times New Roman" pitchFamily="18" charset="0"/>
              </a:rPr>
              <a:t> </a:t>
            </a:r>
            <a:r>
              <a:rPr lang="id-ID" dirty="0">
                <a:solidFill>
                  <a:prstClr val="black"/>
                </a:solidFill>
                <a:latin typeface="Times New Roman" pitchFamily="18" charset="0"/>
                <a:cs typeface="Times New Roman" pitchFamily="18" charset="0"/>
              </a:rPr>
              <a:t>pendidik profesional </a:t>
            </a:r>
            <a:r>
              <a:rPr lang="en-US" dirty="0" err="1">
                <a:solidFill>
                  <a:prstClr val="black"/>
                </a:solidFill>
                <a:latin typeface="Times New Roman" pitchFamily="18" charset="0"/>
                <a:cs typeface="Times New Roman" pitchFamily="18" charset="0"/>
              </a:rPr>
              <a:t>dengan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tugas</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utama</a:t>
            </a:r>
            <a:r>
              <a:rPr lang="id-ID" dirty="0">
                <a:solidFill>
                  <a:prstClr val="black"/>
                </a:solidFill>
                <a:latin typeface="Times New Roman" pitchFamily="18" charset="0"/>
                <a:cs typeface="Times New Roman" pitchFamily="18" charset="0"/>
              </a:rPr>
              <a:t> mendidik, mengajar, membimbing, melatih, dan mengevaluasi peserta didik pada pendidikan anak usia dini</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jalur</a:t>
            </a:r>
            <a:r>
              <a:rPr lang="id-ID" dirty="0">
                <a:solidFill>
                  <a:prstClr val="black"/>
                </a:solidFill>
                <a:latin typeface="Times New Roman" pitchFamily="18" charset="0"/>
                <a:cs typeface="Times New Roman" pitchFamily="18" charset="0"/>
              </a:rPr>
              <a:t> pendidikan formal, pendidikan dasar dan pendidikan menengah</a:t>
            </a:r>
            <a:r>
              <a:rPr lang="id-ID" sz="1600" dirty="0">
                <a:solidFill>
                  <a:prstClr val="black"/>
                </a:solidFill>
              </a:rPr>
              <a:t>.</a:t>
            </a:r>
            <a:endParaRPr lang="en-US" sz="1600" dirty="0"/>
          </a:p>
        </p:txBody>
      </p:sp>
      <p:sp>
        <p:nvSpPr>
          <p:cNvPr id="6" name="Rounded Rectangle 5"/>
          <p:cNvSpPr/>
          <p:nvPr/>
        </p:nvSpPr>
        <p:spPr>
          <a:xfrm>
            <a:off x="4716016" y="1556792"/>
            <a:ext cx="3672408" cy="2844316"/>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id-ID" dirty="0">
                <a:solidFill>
                  <a:schemeClr val="tx1"/>
                </a:solidFill>
                <a:latin typeface="Times New Roman"/>
                <a:ea typeface="Calibri"/>
              </a:rPr>
              <a:t>Guru terbaik adalah guru yang memiliki kemampuan dalam melaksanakan dan berhasil menyelesaikan setiap tugas</a:t>
            </a:r>
            <a:r>
              <a:rPr lang="en-US" dirty="0">
                <a:solidFill>
                  <a:schemeClr val="tx1"/>
                </a:solidFill>
                <a:latin typeface="Times New Roman"/>
                <a:ea typeface="Calibri"/>
              </a:rPr>
              <a:t> yang </a:t>
            </a:r>
            <a:r>
              <a:rPr lang="en-US" dirty="0" err="1">
                <a:solidFill>
                  <a:schemeClr val="tx1"/>
                </a:solidFill>
                <a:latin typeface="Times New Roman"/>
                <a:ea typeface="Calibri"/>
              </a:rPr>
              <a:t>dijalankan</a:t>
            </a:r>
            <a:r>
              <a:rPr lang="id-ID" dirty="0">
                <a:solidFill>
                  <a:schemeClr val="tx1"/>
                </a:solidFill>
                <a:latin typeface="Times New Roman"/>
                <a:ea typeface="Calibri"/>
              </a:rPr>
              <a:t>.</a:t>
            </a:r>
            <a:endParaRPr lang="en-US" dirty="0">
              <a:solidFill>
                <a:schemeClr val="tx1"/>
              </a:solidFill>
            </a:endParaRPr>
          </a:p>
        </p:txBody>
      </p:sp>
      <p:sp>
        <p:nvSpPr>
          <p:cNvPr id="7" name="Rounded Rectangle 6"/>
          <p:cNvSpPr/>
          <p:nvPr/>
        </p:nvSpPr>
        <p:spPr>
          <a:xfrm>
            <a:off x="971600" y="4725144"/>
            <a:ext cx="6984776" cy="1656184"/>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id-ID" dirty="0">
                <a:solidFill>
                  <a:schemeClr val="tx1"/>
                </a:solidFill>
                <a:latin typeface="Times New Roman" pitchFamily="18" charset="0"/>
                <a:cs typeface="Times New Roman" pitchFamily="18" charset="0"/>
              </a:rPr>
              <a:t>Guru sebagai tenaga kependidikan merupakan salah satu faktor penentu dalam keberhasilan tujuan pendidikan, sebab guru adalah seorang yang bersinggungan langsung dengan peserta didik untuk memberikan bimbingan yang akan menghasilkan lulusan yang di</a:t>
            </a:r>
            <a:r>
              <a:rPr lang="en-US" dirty="0">
                <a:solidFill>
                  <a:schemeClr val="tx1"/>
                </a:solidFill>
                <a:latin typeface="Times New Roman" pitchFamily="18" charset="0"/>
                <a:cs typeface="Times New Roman" pitchFamily="18" charset="0"/>
              </a:rPr>
              <a:t>h</a:t>
            </a:r>
            <a:r>
              <a:rPr lang="id-ID" dirty="0" smtClean="0">
                <a:solidFill>
                  <a:schemeClr val="tx1"/>
                </a:solidFill>
                <a:latin typeface="Times New Roman" pitchFamily="18" charset="0"/>
                <a:cs typeface="Times New Roman" pitchFamily="18" charset="0"/>
              </a:rPr>
              <a:t>arpakan</a:t>
            </a:r>
            <a:r>
              <a:rPr lang="en-US" dirty="0" smtClean="0">
                <a:solidFill>
                  <a:schemeClr val="tx1"/>
                </a:solidFill>
                <a:latin typeface="Times New Roman" pitchFamily="18" charset="0"/>
                <a:cs typeface="Times New Roman" pitchFamily="18" charset="0"/>
              </a:rPr>
              <a:t>.</a:t>
            </a:r>
            <a:endParaRPr lang="en-US" dirty="0">
              <a:solidFill>
                <a:schemeClr val="tx1"/>
              </a:solidFill>
              <a:latin typeface="Times New Roman" pitchFamily="18" charset="0"/>
              <a:cs typeface="Times New Roman" pitchFamily="18" charset="0"/>
            </a:endParaRPr>
          </a:p>
        </p:txBody>
      </p:sp>
      <p:sp>
        <p:nvSpPr>
          <p:cNvPr id="8" name="Right Triangle 7"/>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05883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3" name="Horizontal Scroll 2"/>
          <p:cNvSpPr/>
          <p:nvPr/>
        </p:nvSpPr>
        <p:spPr>
          <a:xfrm>
            <a:off x="2713564" y="548680"/>
            <a:ext cx="3672408" cy="936104"/>
          </a:xfrm>
          <a:prstGeom prst="horizontalScroll">
            <a:avLst/>
          </a:prstGeom>
          <a:solidFill>
            <a:schemeClr val="accent1">
              <a:lumMod val="40000"/>
              <a:lumOff val="60000"/>
            </a:schemeClr>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Times New Roman" pitchFamily="18" charset="0"/>
                <a:cs typeface="Times New Roman" pitchFamily="18" charset="0"/>
              </a:rPr>
              <a:t>Testing / </a:t>
            </a:r>
            <a:r>
              <a:rPr lang="en-US" b="1" dirty="0" err="1" smtClean="0">
                <a:solidFill>
                  <a:schemeClr val="tx1"/>
                </a:solidFill>
                <a:latin typeface="Times New Roman" pitchFamily="18" charset="0"/>
                <a:cs typeface="Times New Roman" pitchFamily="18" charset="0"/>
              </a:rPr>
              <a:t>Pengujian</a:t>
            </a:r>
            <a:endParaRPr lang="en-US" b="1" dirty="0">
              <a:solidFill>
                <a:schemeClr val="tx1"/>
              </a:solidFill>
              <a:latin typeface="Times New Roman" pitchFamily="18" charset="0"/>
              <a:cs typeface="Times New Roman" pitchFamily="18" charset="0"/>
            </a:endParaRPr>
          </a:p>
        </p:txBody>
      </p:sp>
      <p:sp>
        <p:nvSpPr>
          <p:cNvPr id="4" name="Rounded Rectangle 3"/>
          <p:cNvSpPr/>
          <p:nvPr/>
        </p:nvSpPr>
        <p:spPr>
          <a:xfrm>
            <a:off x="971600" y="2276872"/>
            <a:ext cx="3578168" cy="2808312"/>
          </a:xfrm>
          <a:prstGeom prst="round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b="1" dirty="0" smtClean="0">
                <a:solidFill>
                  <a:schemeClr val="tx1"/>
                </a:solidFill>
                <a:latin typeface="Times New Roman" pitchFamily="18" charset="0"/>
                <a:cs typeface="Times New Roman" pitchFamily="18" charset="0"/>
              </a:rPr>
              <a:t>Black Box</a:t>
            </a:r>
          </a:p>
          <a:p>
            <a:pPr algn="ctr">
              <a:lnSpc>
                <a:spcPct val="150000"/>
              </a:lnSpc>
            </a:pPr>
            <a:r>
              <a:rPr lang="en-US" i="1" dirty="0">
                <a:solidFill>
                  <a:schemeClr val="tx1"/>
                </a:solidFill>
                <a:latin typeface="Times New Roman"/>
                <a:ea typeface="Calibri"/>
              </a:rPr>
              <a:t>Black-box </a:t>
            </a:r>
            <a:r>
              <a:rPr lang="en-US" i="1" dirty="0" smtClean="0">
                <a:solidFill>
                  <a:schemeClr val="tx1"/>
                </a:solidFill>
                <a:latin typeface="Times New Roman"/>
                <a:ea typeface="Calibri"/>
              </a:rPr>
              <a:t>testing</a:t>
            </a:r>
            <a:r>
              <a:rPr lang="en-US" dirty="0" smtClean="0">
                <a:solidFill>
                  <a:schemeClr val="tx1"/>
                </a:solidFill>
                <a:latin typeface="Times New Roman"/>
                <a:ea typeface="Calibri"/>
              </a:rPr>
              <a:t> </a:t>
            </a:r>
            <a:r>
              <a:rPr lang="en-US" dirty="0" err="1" smtClean="0">
                <a:solidFill>
                  <a:schemeClr val="tx1"/>
                </a:solidFill>
                <a:latin typeface="Times New Roman"/>
                <a:ea typeface="Calibri"/>
              </a:rPr>
              <a:t>adalah</a:t>
            </a:r>
            <a:r>
              <a:rPr lang="en-US" dirty="0" smtClean="0">
                <a:solidFill>
                  <a:schemeClr val="tx1"/>
                </a:solidFill>
                <a:latin typeface="Times New Roman"/>
                <a:ea typeface="Calibri"/>
              </a:rPr>
              <a:t> </a:t>
            </a:r>
            <a:r>
              <a:rPr lang="en-US" dirty="0" err="1">
                <a:solidFill>
                  <a:schemeClr val="tx1"/>
                </a:solidFill>
                <a:latin typeface="Times New Roman"/>
                <a:ea typeface="Calibri"/>
              </a:rPr>
              <a:t>cara</a:t>
            </a:r>
            <a:r>
              <a:rPr lang="en-US" dirty="0">
                <a:solidFill>
                  <a:schemeClr val="tx1"/>
                </a:solidFill>
                <a:latin typeface="Times New Roman"/>
                <a:ea typeface="Calibri"/>
              </a:rPr>
              <a:t> </a:t>
            </a:r>
            <a:r>
              <a:rPr lang="en-US" dirty="0" err="1">
                <a:solidFill>
                  <a:schemeClr val="tx1"/>
                </a:solidFill>
                <a:latin typeface="Times New Roman"/>
                <a:ea typeface="Calibri"/>
              </a:rPr>
              <a:t>pengujian</a:t>
            </a:r>
            <a:r>
              <a:rPr lang="en-US" dirty="0">
                <a:solidFill>
                  <a:schemeClr val="tx1"/>
                </a:solidFill>
                <a:latin typeface="Times New Roman"/>
                <a:ea typeface="Calibri"/>
              </a:rPr>
              <a:t> </a:t>
            </a:r>
            <a:r>
              <a:rPr lang="en-US" dirty="0" err="1">
                <a:solidFill>
                  <a:schemeClr val="tx1"/>
                </a:solidFill>
                <a:latin typeface="Times New Roman"/>
                <a:ea typeface="Calibri"/>
              </a:rPr>
              <a:t>perangkat</a:t>
            </a:r>
            <a:r>
              <a:rPr lang="en-US" dirty="0">
                <a:solidFill>
                  <a:schemeClr val="tx1"/>
                </a:solidFill>
                <a:latin typeface="Times New Roman"/>
                <a:ea typeface="Calibri"/>
              </a:rPr>
              <a:t> </a:t>
            </a:r>
            <a:r>
              <a:rPr lang="en-US" dirty="0" err="1">
                <a:solidFill>
                  <a:schemeClr val="tx1"/>
                </a:solidFill>
                <a:latin typeface="Times New Roman"/>
                <a:ea typeface="Calibri"/>
              </a:rPr>
              <a:t>lunak</a:t>
            </a:r>
            <a:r>
              <a:rPr lang="en-US" dirty="0">
                <a:solidFill>
                  <a:schemeClr val="tx1"/>
                </a:solidFill>
                <a:latin typeface="Times New Roman"/>
                <a:ea typeface="Calibri"/>
              </a:rPr>
              <a:t> yang </a:t>
            </a:r>
            <a:r>
              <a:rPr lang="en-US" dirty="0" err="1">
                <a:solidFill>
                  <a:schemeClr val="tx1"/>
                </a:solidFill>
                <a:latin typeface="Times New Roman"/>
                <a:ea typeface="Calibri"/>
              </a:rPr>
              <a:t>menekankan</a:t>
            </a:r>
            <a:r>
              <a:rPr lang="en-US" dirty="0">
                <a:solidFill>
                  <a:schemeClr val="tx1"/>
                </a:solidFill>
                <a:latin typeface="Times New Roman"/>
                <a:ea typeface="Calibri"/>
              </a:rPr>
              <a:t> </a:t>
            </a:r>
            <a:r>
              <a:rPr lang="en-US" dirty="0" err="1">
                <a:solidFill>
                  <a:schemeClr val="tx1"/>
                </a:solidFill>
                <a:latin typeface="Times New Roman"/>
                <a:ea typeface="Calibri"/>
              </a:rPr>
              <a:t>pada</a:t>
            </a:r>
            <a:r>
              <a:rPr lang="en-US" dirty="0">
                <a:solidFill>
                  <a:schemeClr val="tx1"/>
                </a:solidFill>
                <a:latin typeface="Times New Roman"/>
                <a:ea typeface="Calibri"/>
              </a:rPr>
              <a:t> </a:t>
            </a:r>
            <a:r>
              <a:rPr lang="en-US" dirty="0" err="1">
                <a:solidFill>
                  <a:schemeClr val="tx1"/>
                </a:solidFill>
                <a:latin typeface="Times New Roman"/>
                <a:ea typeface="Calibri"/>
              </a:rPr>
              <a:t>spesifikasi</a:t>
            </a:r>
            <a:r>
              <a:rPr lang="en-US" dirty="0">
                <a:solidFill>
                  <a:schemeClr val="tx1"/>
                </a:solidFill>
                <a:latin typeface="Times New Roman"/>
                <a:ea typeface="Calibri"/>
              </a:rPr>
              <a:t> </a:t>
            </a:r>
            <a:r>
              <a:rPr lang="en-US" dirty="0" err="1">
                <a:solidFill>
                  <a:schemeClr val="tx1"/>
                </a:solidFill>
                <a:latin typeface="Times New Roman"/>
                <a:ea typeface="Calibri"/>
              </a:rPr>
              <a:t>fungsional</a:t>
            </a:r>
            <a:r>
              <a:rPr lang="en-US" dirty="0">
                <a:solidFill>
                  <a:schemeClr val="tx1"/>
                </a:solidFill>
                <a:latin typeface="Times New Roman"/>
                <a:ea typeface="Calibri"/>
              </a:rPr>
              <a:t> </a:t>
            </a:r>
            <a:r>
              <a:rPr lang="en-US" dirty="0" err="1">
                <a:solidFill>
                  <a:schemeClr val="tx1"/>
                </a:solidFill>
                <a:latin typeface="Times New Roman"/>
                <a:ea typeface="Calibri"/>
              </a:rPr>
              <a:t>dari</a:t>
            </a:r>
            <a:r>
              <a:rPr lang="en-US" dirty="0">
                <a:solidFill>
                  <a:schemeClr val="tx1"/>
                </a:solidFill>
                <a:latin typeface="Times New Roman"/>
                <a:ea typeface="Calibri"/>
              </a:rPr>
              <a:t> </a:t>
            </a:r>
            <a:r>
              <a:rPr lang="en-US" dirty="0" err="1">
                <a:solidFill>
                  <a:schemeClr val="tx1"/>
                </a:solidFill>
                <a:latin typeface="Times New Roman"/>
                <a:ea typeface="Calibri"/>
              </a:rPr>
              <a:t>perangkat</a:t>
            </a:r>
            <a:r>
              <a:rPr lang="en-US" dirty="0">
                <a:solidFill>
                  <a:schemeClr val="tx1"/>
                </a:solidFill>
                <a:latin typeface="Times New Roman"/>
                <a:ea typeface="Calibri"/>
              </a:rPr>
              <a:t> </a:t>
            </a:r>
            <a:r>
              <a:rPr lang="en-US" dirty="0" err="1">
                <a:solidFill>
                  <a:schemeClr val="tx1"/>
                </a:solidFill>
                <a:latin typeface="Times New Roman"/>
                <a:ea typeface="Calibri"/>
              </a:rPr>
              <a:t>lunak</a:t>
            </a:r>
            <a:r>
              <a:rPr lang="en-US" dirty="0">
                <a:solidFill>
                  <a:schemeClr val="tx1"/>
                </a:solidFill>
                <a:latin typeface="Times New Roman"/>
                <a:ea typeface="Calibri"/>
              </a:rPr>
              <a:t> </a:t>
            </a:r>
            <a:r>
              <a:rPr lang="en-US" dirty="0" err="1">
                <a:solidFill>
                  <a:schemeClr val="tx1"/>
                </a:solidFill>
                <a:latin typeface="Times New Roman"/>
                <a:ea typeface="Calibri"/>
              </a:rPr>
              <a:t>itu</a:t>
            </a:r>
            <a:r>
              <a:rPr lang="en-US" dirty="0">
                <a:solidFill>
                  <a:schemeClr val="tx1"/>
                </a:solidFill>
                <a:latin typeface="Times New Roman"/>
                <a:ea typeface="Calibri"/>
              </a:rPr>
              <a:t> </a:t>
            </a:r>
            <a:r>
              <a:rPr lang="en-US" dirty="0" err="1" smtClean="0">
                <a:solidFill>
                  <a:schemeClr val="tx1"/>
                </a:solidFill>
                <a:latin typeface="Times New Roman"/>
                <a:ea typeface="Calibri"/>
              </a:rPr>
              <a:t>sendiri</a:t>
            </a:r>
            <a:r>
              <a:rPr lang="en-US" dirty="0" smtClean="0">
                <a:solidFill>
                  <a:schemeClr val="tx1"/>
                </a:solidFill>
                <a:latin typeface="Times New Roman"/>
                <a:ea typeface="Calibri"/>
              </a:rPr>
              <a:t>.</a:t>
            </a:r>
            <a:endParaRPr lang="en-US" dirty="0">
              <a:solidFill>
                <a:schemeClr val="tx1"/>
              </a:solidFill>
              <a:latin typeface="Times New Roman" pitchFamily="18" charset="0"/>
              <a:cs typeface="Times New Roman" pitchFamily="18" charset="0"/>
            </a:endParaRPr>
          </a:p>
        </p:txBody>
      </p:sp>
      <p:sp>
        <p:nvSpPr>
          <p:cNvPr id="5" name="Rounded Rectangle 4"/>
          <p:cNvSpPr/>
          <p:nvPr/>
        </p:nvSpPr>
        <p:spPr>
          <a:xfrm>
            <a:off x="5004048" y="2348880"/>
            <a:ext cx="3204356" cy="2736304"/>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b="1" dirty="0" smtClean="0">
                <a:solidFill>
                  <a:schemeClr val="tx1"/>
                </a:solidFill>
                <a:latin typeface="Times New Roman" pitchFamily="18" charset="0"/>
                <a:cs typeface="Times New Roman" pitchFamily="18" charset="0"/>
              </a:rPr>
              <a:t>Confusion Matrix</a:t>
            </a:r>
          </a:p>
          <a:p>
            <a:pPr algn="ctr">
              <a:lnSpc>
                <a:spcPct val="150000"/>
              </a:lnSpc>
            </a:pPr>
            <a:r>
              <a:rPr lang="id-ID" i="1" dirty="0">
                <a:solidFill>
                  <a:schemeClr val="tx1"/>
                </a:solidFill>
                <a:latin typeface="Times New Roman"/>
                <a:ea typeface="Calibri"/>
              </a:rPr>
              <a:t>Confusion Matrix</a:t>
            </a:r>
            <a:r>
              <a:rPr lang="id-ID" dirty="0">
                <a:solidFill>
                  <a:schemeClr val="tx1"/>
                </a:solidFill>
                <a:latin typeface="Times New Roman"/>
                <a:ea typeface="Calibri"/>
              </a:rPr>
              <a:t> adalah suatu metode yang biasa  digunakan untuk melakukan perhitungan akurasi pada </a:t>
            </a:r>
            <a:r>
              <a:rPr lang="id-ID" dirty="0" smtClean="0">
                <a:solidFill>
                  <a:schemeClr val="tx1"/>
                </a:solidFill>
                <a:latin typeface="Times New Roman"/>
                <a:ea typeface="Calibri"/>
              </a:rPr>
              <a:t>sistem</a:t>
            </a:r>
            <a:r>
              <a:rPr lang="en-US" dirty="0" smtClean="0">
                <a:solidFill>
                  <a:schemeClr val="tx1"/>
                </a:solidFill>
                <a:latin typeface="Times New Roman"/>
                <a:ea typeface="Calibri"/>
              </a:rPr>
              <a:t>.</a:t>
            </a:r>
            <a:endParaRPr lang="en-US" dirty="0">
              <a:solidFill>
                <a:schemeClr val="tx1"/>
              </a:solidFill>
              <a:latin typeface="Times New Roman" pitchFamily="18" charset="0"/>
              <a:cs typeface="Times New Roman" pitchFamily="18" charset="0"/>
            </a:endParaRPr>
          </a:p>
        </p:txBody>
      </p:sp>
      <p:sp>
        <p:nvSpPr>
          <p:cNvPr id="7" name="Right Triangle 6"/>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01165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TextBox 1"/>
          <p:cNvSpPr txBox="1"/>
          <p:nvPr/>
        </p:nvSpPr>
        <p:spPr>
          <a:xfrm>
            <a:off x="1619672" y="2564904"/>
            <a:ext cx="6048672" cy="1133965"/>
          </a:xfrm>
          <a:prstGeom prst="rect">
            <a:avLst/>
          </a:prstGeom>
          <a:noFill/>
        </p:spPr>
        <p:txBody>
          <a:bodyPr wrap="square" rtlCol="0">
            <a:spAutoFit/>
          </a:bodyPr>
          <a:lstStyle/>
          <a:p>
            <a:pPr algn="ctr">
              <a:lnSpc>
                <a:spcPct val="150000"/>
              </a:lnSpc>
            </a:pPr>
            <a:r>
              <a:rPr lang="en-US" sz="2400" b="1" dirty="0" smtClean="0">
                <a:latin typeface="Times New Roman" pitchFamily="18" charset="0"/>
                <a:cs typeface="Times New Roman" pitchFamily="18" charset="0"/>
              </a:rPr>
              <a:t>BAB III </a:t>
            </a:r>
          </a:p>
          <a:p>
            <a:pPr algn="ctr">
              <a:lnSpc>
                <a:spcPct val="150000"/>
              </a:lnSpc>
            </a:pPr>
            <a:r>
              <a:rPr lang="en-US" sz="2400" b="1" dirty="0" smtClean="0">
                <a:latin typeface="Times New Roman" pitchFamily="18" charset="0"/>
                <a:cs typeface="Times New Roman" pitchFamily="18" charset="0"/>
              </a:rPr>
              <a:t>METODOLOGI PENELITIAN</a:t>
            </a:r>
            <a:endParaRPr lang="en-US" sz="2400" b="1" dirty="0">
              <a:latin typeface="Times New Roman" pitchFamily="18" charset="0"/>
              <a:cs typeface="Times New Roman" pitchFamily="18" charset="0"/>
            </a:endParaRPr>
          </a:p>
        </p:txBody>
      </p:sp>
      <p:sp>
        <p:nvSpPr>
          <p:cNvPr id="3" name="Right Triangle 2"/>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5711214"/>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Horizontal Scroll 1"/>
          <p:cNvSpPr/>
          <p:nvPr/>
        </p:nvSpPr>
        <p:spPr>
          <a:xfrm>
            <a:off x="2703114" y="2708920"/>
            <a:ext cx="3312368" cy="864096"/>
          </a:xfrm>
          <a:prstGeom prst="horizontalScroll">
            <a:avLst/>
          </a:prstGeom>
          <a:solidFill>
            <a:schemeClr val="accent1">
              <a:lumMod val="40000"/>
              <a:lumOff val="60000"/>
            </a:schemeClr>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b="1" dirty="0" err="1" smtClean="0">
                <a:solidFill>
                  <a:schemeClr val="tx1"/>
                </a:solidFill>
                <a:latin typeface="Times New Roman" pitchFamily="18" charset="0"/>
                <a:cs typeface="Times New Roman" pitchFamily="18" charset="0"/>
              </a:rPr>
              <a:t>Metode</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Pengumpulan</a:t>
            </a:r>
            <a:r>
              <a:rPr lang="en-US" b="1" dirty="0" smtClean="0">
                <a:solidFill>
                  <a:schemeClr val="tx1"/>
                </a:solidFill>
                <a:latin typeface="Times New Roman" pitchFamily="18" charset="0"/>
                <a:cs typeface="Times New Roman" pitchFamily="18" charset="0"/>
              </a:rPr>
              <a:t> Data</a:t>
            </a:r>
            <a:endParaRPr lang="en-US" b="1" dirty="0">
              <a:solidFill>
                <a:schemeClr val="tx1"/>
              </a:solidFill>
              <a:latin typeface="Times New Roman" pitchFamily="18" charset="0"/>
              <a:cs typeface="Times New Roman" pitchFamily="18" charset="0"/>
            </a:endParaRPr>
          </a:p>
        </p:txBody>
      </p:sp>
      <p:sp>
        <p:nvSpPr>
          <p:cNvPr id="3" name="Rounded Rectangle 2"/>
          <p:cNvSpPr/>
          <p:nvPr/>
        </p:nvSpPr>
        <p:spPr>
          <a:xfrm>
            <a:off x="470866" y="4012437"/>
            <a:ext cx="2232248" cy="2376264"/>
          </a:xfrm>
          <a:prstGeom prst="round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600" b="1" dirty="0" err="1" smtClean="0">
                <a:solidFill>
                  <a:schemeClr val="tx1"/>
                </a:solidFill>
                <a:latin typeface="Times New Roman"/>
                <a:ea typeface="Calibri"/>
              </a:rPr>
              <a:t>Observasi</a:t>
            </a:r>
            <a:r>
              <a:rPr lang="en-US" sz="1600" b="1" dirty="0" smtClean="0">
                <a:solidFill>
                  <a:schemeClr val="tx1"/>
                </a:solidFill>
                <a:latin typeface="Times New Roman"/>
                <a:ea typeface="Calibri"/>
              </a:rPr>
              <a:t> </a:t>
            </a:r>
          </a:p>
          <a:p>
            <a:pPr algn="ctr"/>
            <a:r>
              <a:rPr lang="en-US" sz="1600" dirty="0" err="1" smtClean="0">
                <a:solidFill>
                  <a:schemeClr val="tx1"/>
                </a:solidFill>
                <a:latin typeface="Times New Roman"/>
                <a:ea typeface="Calibri"/>
              </a:rPr>
              <a:t>Observasi</a:t>
            </a:r>
            <a:r>
              <a:rPr lang="en-US" sz="1600" dirty="0" smtClean="0">
                <a:solidFill>
                  <a:schemeClr val="tx1"/>
                </a:solidFill>
                <a:latin typeface="Times New Roman"/>
                <a:ea typeface="Calibri"/>
              </a:rPr>
              <a:t> </a:t>
            </a:r>
            <a:r>
              <a:rPr lang="en-US" sz="1600" dirty="0" err="1">
                <a:solidFill>
                  <a:schemeClr val="tx1"/>
                </a:solidFill>
                <a:latin typeface="Times New Roman"/>
                <a:ea typeface="Calibri"/>
              </a:rPr>
              <a:t>adalah</a:t>
            </a:r>
            <a:r>
              <a:rPr lang="en-US" sz="1600" dirty="0">
                <a:solidFill>
                  <a:schemeClr val="tx1"/>
                </a:solidFill>
                <a:latin typeface="Times New Roman"/>
                <a:ea typeface="Calibri"/>
              </a:rPr>
              <a:t> </a:t>
            </a:r>
            <a:r>
              <a:rPr lang="en-US" sz="1600" dirty="0" err="1">
                <a:solidFill>
                  <a:schemeClr val="tx1"/>
                </a:solidFill>
                <a:latin typeface="Times New Roman"/>
                <a:ea typeface="Calibri"/>
              </a:rPr>
              <a:t>metode</a:t>
            </a:r>
            <a:r>
              <a:rPr lang="en-US" sz="1600" dirty="0">
                <a:solidFill>
                  <a:schemeClr val="tx1"/>
                </a:solidFill>
                <a:latin typeface="Times New Roman"/>
                <a:ea typeface="Calibri"/>
              </a:rPr>
              <a:t> </a:t>
            </a:r>
            <a:r>
              <a:rPr lang="en-US" sz="1600" dirty="0" err="1">
                <a:solidFill>
                  <a:schemeClr val="tx1"/>
                </a:solidFill>
                <a:latin typeface="Times New Roman"/>
                <a:ea typeface="Calibri"/>
              </a:rPr>
              <a:t>pengumpulan</a:t>
            </a:r>
            <a:r>
              <a:rPr lang="en-US" sz="1600" dirty="0">
                <a:solidFill>
                  <a:schemeClr val="tx1"/>
                </a:solidFill>
                <a:latin typeface="Times New Roman"/>
                <a:ea typeface="Calibri"/>
              </a:rPr>
              <a:t> data </a:t>
            </a:r>
            <a:r>
              <a:rPr lang="en-US" sz="1600" dirty="0" err="1">
                <a:solidFill>
                  <a:schemeClr val="tx1"/>
                </a:solidFill>
                <a:latin typeface="Times New Roman"/>
                <a:ea typeface="Calibri"/>
              </a:rPr>
              <a:t>dengan</a:t>
            </a:r>
            <a:r>
              <a:rPr lang="en-US" sz="1600" dirty="0">
                <a:solidFill>
                  <a:schemeClr val="tx1"/>
                </a:solidFill>
                <a:latin typeface="Times New Roman"/>
                <a:ea typeface="Calibri"/>
              </a:rPr>
              <a:t> </a:t>
            </a:r>
            <a:r>
              <a:rPr lang="en-US" sz="1600" dirty="0" err="1">
                <a:solidFill>
                  <a:schemeClr val="tx1"/>
                </a:solidFill>
                <a:latin typeface="Times New Roman"/>
                <a:ea typeface="Calibri"/>
              </a:rPr>
              <a:t>cara</a:t>
            </a:r>
            <a:r>
              <a:rPr lang="en-US" sz="1600" dirty="0">
                <a:solidFill>
                  <a:schemeClr val="tx1"/>
                </a:solidFill>
                <a:latin typeface="Times New Roman"/>
                <a:ea typeface="Calibri"/>
              </a:rPr>
              <a:t> </a:t>
            </a:r>
            <a:r>
              <a:rPr lang="en-US" sz="1600" dirty="0" err="1">
                <a:solidFill>
                  <a:schemeClr val="tx1"/>
                </a:solidFill>
                <a:latin typeface="Times New Roman"/>
                <a:ea typeface="Calibri"/>
              </a:rPr>
              <a:t>turun</a:t>
            </a:r>
            <a:r>
              <a:rPr lang="en-US" sz="1600" dirty="0">
                <a:solidFill>
                  <a:schemeClr val="tx1"/>
                </a:solidFill>
                <a:latin typeface="Times New Roman"/>
                <a:ea typeface="Calibri"/>
              </a:rPr>
              <a:t> </a:t>
            </a:r>
            <a:r>
              <a:rPr lang="en-US" sz="1600" dirty="0" err="1">
                <a:solidFill>
                  <a:schemeClr val="tx1"/>
                </a:solidFill>
                <a:latin typeface="Times New Roman"/>
                <a:ea typeface="Calibri"/>
              </a:rPr>
              <a:t>langsung</a:t>
            </a:r>
            <a:r>
              <a:rPr lang="en-US" sz="1600" dirty="0">
                <a:solidFill>
                  <a:schemeClr val="tx1"/>
                </a:solidFill>
                <a:latin typeface="Times New Roman"/>
                <a:ea typeface="Calibri"/>
              </a:rPr>
              <a:t> </a:t>
            </a:r>
            <a:r>
              <a:rPr lang="en-US" sz="1600" dirty="0" err="1">
                <a:solidFill>
                  <a:schemeClr val="tx1"/>
                </a:solidFill>
                <a:latin typeface="Times New Roman"/>
                <a:ea typeface="Calibri"/>
              </a:rPr>
              <a:t>dilokasi</a:t>
            </a:r>
            <a:r>
              <a:rPr lang="en-US" sz="1600" dirty="0">
                <a:solidFill>
                  <a:schemeClr val="tx1"/>
                </a:solidFill>
                <a:latin typeface="Times New Roman"/>
                <a:ea typeface="Calibri"/>
              </a:rPr>
              <a:t> </a:t>
            </a:r>
            <a:r>
              <a:rPr lang="en-US" sz="1600" dirty="0" err="1">
                <a:solidFill>
                  <a:schemeClr val="tx1"/>
                </a:solidFill>
                <a:latin typeface="Times New Roman"/>
                <a:ea typeface="Calibri"/>
              </a:rPr>
              <a:t>untuk</a:t>
            </a:r>
            <a:r>
              <a:rPr lang="en-US" sz="1600" dirty="0">
                <a:solidFill>
                  <a:schemeClr val="tx1"/>
                </a:solidFill>
                <a:latin typeface="Times New Roman"/>
                <a:ea typeface="Calibri"/>
              </a:rPr>
              <a:t> </a:t>
            </a:r>
            <a:r>
              <a:rPr lang="en-US" sz="1600" dirty="0" err="1">
                <a:solidFill>
                  <a:schemeClr val="tx1"/>
                </a:solidFill>
                <a:latin typeface="Times New Roman"/>
                <a:ea typeface="Calibri"/>
              </a:rPr>
              <a:t>melihat</a:t>
            </a:r>
            <a:r>
              <a:rPr lang="en-US" sz="1600" dirty="0">
                <a:solidFill>
                  <a:schemeClr val="tx1"/>
                </a:solidFill>
                <a:latin typeface="Times New Roman"/>
                <a:ea typeface="Calibri"/>
              </a:rPr>
              <a:t> </a:t>
            </a:r>
            <a:r>
              <a:rPr lang="en-US" sz="1600" dirty="0" err="1">
                <a:solidFill>
                  <a:schemeClr val="tx1"/>
                </a:solidFill>
                <a:latin typeface="Times New Roman"/>
                <a:ea typeface="Calibri"/>
              </a:rPr>
              <a:t>dan</a:t>
            </a:r>
            <a:r>
              <a:rPr lang="en-US" sz="1600" dirty="0">
                <a:solidFill>
                  <a:schemeClr val="tx1"/>
                </a:solidFill>
                <a:latin typeface="Times New Roman"/>
                <a:ea typeface="Calibri"/>
              </a:rPr>
              <a:t> </a:t>
            </a:r>
            <a:r>
              <a:rPr lang="en-US" sz="1600" dirty="0" err="1">
                <a:solidFill>
                  <a:schemeClr val="tx1"/>
                </a:solidFill>
                <a:latin typeface="Times New Roman"/>
                <a:ea typeface="Calibri"/>
              </a:rPr>
              <a:t>mempelajari</a:t>
            </a:r>
            <a:r>
              <a:rPr lang="en-US" sz="1600" dirty="0">
                <a:solidFill>
                  <a:schemeClr val="tx1"/>
                </a:solidFill>
                <a:latin typeface="Times New Roman"/>
                <a:ea typeface="Calibri"/>
              </a:rPr>
              <a:t> </a:t>
            </a:r>
            <a:r>
              <a:rPr lang="en-US" sz="1600" dirty="0" err="1">
                <a:solidFill>
                  <a:schemeClr val="tx1"/>
                </a:solidFill>
                <a:latin typeface="Times New Roman"/>
                <a:ea typeface="Calibri"/>
              </a:rPr>
              <a:t>permasalahan</a:t>
            </a:r>
            <a:r>
              <a:rPr lang="en-US" sz="1600" dirty="0">
                <a:solidFill>
                  <a:schemeClr val="tx1"/>
                </a:solidFill>
                <a:latin typeface="Times New Roman"/>
                <a:ea typeface="Calibri"/>
              </a:rPr>
              <a:t> yang </a:t>
            </a:r>
            <a:r>
              <a:rPr lang="en-US" sz="1600" dirty="0" err="1">
                <a:solidFill>
                  <a:schemeClr val="tx1"/>
                </a:solidFill>
                <a:latin typeface="Times New Roman"/>
                <a:ea typeface="Calibri"/>
              </a:rPr>
              <a:t>akan</a:t>
            </a:r>
            <a:r>
              <a:rPr lang="en-US" sz="1600" dirty="0">
                <a:solidFill>
                  <a:schemeClr val="tx1"/>
                </a:solidFill>
                <a:latin typeface="Times New Roman"/>
                <a:ea typeface="Calibri"/>
              </a:rPr>
              <a:t> </a:t>
            </a:r>
            <a:r>
              <a:rPr lang="en-US" sz="1600" dirty="0" err="1">
                <a:solidFill>
                  <a:schemeClr val="tx1"/>
                </a:solidFill>
                <a:latin typeface="Times New Roman"/>
                <a:ea typeface="Calibri"/>
              </a:rPr>
              <a:t>diteliti</a:t>
            </a:r>
            <a:r>
              <a:rPr lang="en-US" sz="1600" dirty="0">
                <a:solidFill>
                  <a:schemeClr val="tx1"/>
                </a:solidFill>
                <a:latin typeface="Times New Roman"/>
                <a:ea typeface="Calibri"/>
              </a:rPr>
              <a:t>,</a:t>
            </a:r>
            <a:r>
              <a:rPr lang="en-US" sz="1600" dirty="0">
                <a:latin typeface="Times New Roman"/>
                <a:ea typeface="Calibri"/>
              </a:rPr>
              <a:t> </a:t>
            </a:r>
            <a:endParaRPr lang="en-US" sz="1600" dirty="0"/>
          </a:p>
        </p:txBody>
      </p:sp>
      <p:sp>
        <p:nvSpPr>
          <p:cNvPr id="4" name="Rounded Rectangle 3"/>
          <p:cNvSpPr/>
          <p:nvPr/>
        </p:nvSpPr>
        <p:spPr>
          <a:xfrm>
            <a:off x="5940152" y="4038179"/>
            <a:ext cx="2160240" cy="2372225"/>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600" b="1" dirty="0" err="1" smtClean="0">
                <a:solidFill>
                  <a:schemeClr val="tx1"/>
                </a:solidFill>
                <a:latin typeface="Times New Roman"/>
                <a:ea typeface="Calibri"/>
              </a:rPr>
              <a:t>Wawancara</a:t>
            </a:r>
            <a:endParaRPr lang="en-US" sz="1600" b="1" dirty="0" smtClean="0">
              <a:solidFill>
                <a:schemeClr val="tx1"/>
              </a:solidFill>
              <a:latin typeface="Times New Roman"/>
              <a:ea typeface="Calibri"/>
            </a:endParaRPr>
          </a:p>
          <a:p>
            <a:pPr algn="ctr"/>
            <a:r>
              <a:rPr lang="en-US" sz="1600" dirty="0" err="1" smtClean="0">
                <a:solidFill>
                  <a:schemeClr val="tx1"/>
                </a:solidFill>
                <a:latin typeface="Times New Roman"/>
                <a:ea typeface="Calibri"/>
              </a:rPr>
              <a:t>wawancara</a:t>
            </a:r>
            <a:r>
              <a:rPr lang="en-US" sz="1600" dirty="0" smtClean="0">
                <a:solidFill>
                  <a:schemeClr val="tx1"/>
                </a:solidFill>
                <a:latin typeface="Times New Roman"/>
                <a:ea typeface="Calibri"/>
              </a:rPr>
              <a:t> </a:t>
            </a:r>
            <a:r>
              <a:rPr lang="en-US" sz="1600" dirty="0" err="1">
                <a:solidFill>
                  <a:schemeClr val="tx1"/>
                </a:solidFill>
                <a:latin typeface="Times New Roman"/>
                <a:ea typeface="Calibri"/>
              </a:rPr>
              <a:t>adalah</a:t>
            </a:r>
            <a:r>
              <a:rPr lang="en-US" sz="1600" dirty="0">
                <a:solidFill>
                  <a:schemeClr val="tx1"/>
                </a:solidFill>
                <a:latin typeface="Times New Roman"/>
                <a:ea typeface="Calibri"/>
              </a:rPr>
              <a:t> </a:t>
            </a:r>
            <a:r>
              <a:rPr lang="en-US" sz="1600" dirty="0" err="1">
                <a:solidFill>
                  <a:schemeClr val="tx1"/>
                </a:solidFill>
                <a:latin typeface="Times New Roman"/>
                <a:ea typeface="Calibri"/>
              </a:rPr>
              <a:t>salah</a:t>
            </a:r>
            <a:r>
              <a:rPr lang="en-US" sz="1600" dirty="0">
                <a:solidFill>
                  <a:schemeClr val="tx1"/>
                </a:solidFill>
                <a:latin typeface="Times New Roman"/>
                <a:ea typeface="Calibri"/>
              </a:rPr>
              <a:t> </a:t>
            </a:r>
            <a:r>
              <a:rPr lang="en-US" sz="1600" dirty="0" err="1">
                <a:solidFill>
                  <a:schemeClr val="tx1"/>
                </a:solidFill>
                <a:latin typeface="Times New Roman"/>
                <a:ea typeface="Calibri"/>
              </a:rPr>
              <a:t>satu</a:t>
            </a:r>
            <a:r>
              <a:rPr lang="en-US" sz="1600" dirty="0">
                <a:solidFill>
                  <a:schemeClr val="tx1"/>
                </a:solidFill>
                <a:latin typeface="Times New Roman"/>
                <a:ea typeface="Calibri"/>
              </a:rPr>
              <a:t> </a:t>
            </a:r>
            <a:r>
              <a:rPr lang="en-US" sz="1600" dirty="0" err="1">
                <a:solidFill>
                  <a:schemeClr val="tx1"/>
                </a:solidFill>
                <a:latin typeface="Times New Roman"/>
                <a:ea typeface="Calibri"/>
              </a:rPr>
              <a:t>cara</a:t>
            </a:r>
            <a:r>
              <a:rPr lang="en-US" sz="1600" dirty="0">
                <a:solidFill>
                  <a:schemeClr val="tx1"/>
                </a:solidFill>
                <a:latin typeface="Times New Roman"/>
                <a:ea typeface="Calibri"/>
              </a:rPr>
              <a:t> </a:t>
            </a:r>
            <a:r>
              <a:rPr lang="en-US" sz="1600" dirty="0" err="1">
                <a:solidFill>
                  <a:schemeClr val="tx1"/>
                </a:solidFill>
                <a:latin typeface="Times New Roman"/>
                <a:ea typeface="Calibri"/>
              </a:rPr>
              <a:t>memperoleh</a:t>
            </a:r>
            <a:r>
              <a:rPr lang="en-US" sz="1600" dirty="0">
                <a:solidFill>
                  <a:schemeClr val="tx1"/>
                </a:solidFill>
                <a:latin typeface="Times New Roman"/>
                <a:ea typeface="Calibri"/>
              </a:rPr>
              <a:t> data </a:t>
            </a:r>
            <a:r>
              <a:rPr lang="en-US" sz="1600" dirty="0" err="1">
                <a:solidFill>
                  <a:schemeClr val="tx1"/>
                </a:solidFill>
                <a:latin typeface="Times New Roman"/>
                <a:ea typeface="Calibri"/>
              </a:rPr>
              <a:t>dengan</a:t>
            </a:r>
            <a:r>
              <a:rPr lang="en-US" sz="1600" dirty="0">
                <a:solidFill>
                  <a:schemeClr val="tx1"/>
                </a:solidFill>
                <a:latin typeface="Times New Roman"/>
                <a:ea typeface="Calibri"/>
              </a:rPr>
              <a:t> </a:t>
            </a:r>
            <a:r>
              <a:rPr lang="en-US" sz="1600" dirty="0" err="1">
                <a:solidFill>
                  <a:schemeClr val="tx1"/>
                </a:solidFill>
                <a:latin typeface="Times New Roman"/>
                <a:ea typeface="Calibri"/>
              </a:rPr>
              <a:t>cara</a:t>
            </a:r>
            <a:r>
              <a:rPr lang="en-US" sz="1600" dirty="0">
                <a:solidFill>
                  <a:schemeClr val="tx1"/>
                </a:solidFill>
                <a:latin typeface="Times New Roman"/>
                <a:ea typeface="Calibri"/>
              </a:rPr>
              <a:t> </a:t>
            </a:r>
            <a:r>
              <a:rPr lang="en-US" sz="1600" dirty="0" err="1">
                <a:solidFill>
                  <a:schemeClr val="tx1"/>
                </a:solidFill>
                <a:latin typeface="Times New Roman"/>
                <a:ea typeface="Calibri"/>
              </a:rPr>
              <a:t>tanya</a:t>
            </a:r>
            <a:r>
              <a:rPr lang="en-US" sz="1600" dirty="0">
                <a:solidFill>
                  <a:schemeClr val="tx1"/>
                </a:solidFill>
                <a:latin typeface="Times New Roman"/>
                <a:ea typeface="Calibri"/>
              </a:rPr>
              <a:t> </a:t>
            </a:r>
            <a:r>
              <a:rPr lang="en-US" sz="1600" dirty="0" err="1">
                <a:solidFill>
                  <a:schemeClr val="tx1"/>
                </a:solidFill>
                <a:latin typeface="Times New Roman"/>
                <a:ea typeface="Calibri"/>
              </a:rPr>
              <a:t>jawab</a:t>
            </a:r>
            <a:r>
              <a:rPr lang="en-US" sz="1600" dirty="0">
                <a:solidFill>
                  <a:schemeClr val="tx1"/>
                </a:solidFill>
                <a:latin typeface="Times New Roman"/>
                <a:ea typeface="Calibri"/>
              </a:rPr>
              <a:t> </a:t>
            </a:r>
            <a:r>
              <a:rPr lang="en-US" sz="1600" dirty="0" err="1">
                <a:solidFill>
                  <a:schemeClr val="tx1"/>
                </a:solidFill>
                <a:latin typeface="Times New Roman"/>
                <a:ea typeface="Calibri"/>
              </a:rPr>
              <a:t>secara</a:t>
            </a:r>
            <a:r>
              <a:rPr lang="en-US" sz="1600" dirty="0">
                <a:solidFill>
                  <a:schemeClr val="tx1"/>
                </a:solidFill>
                <a:latin typeface="Times New Roman"/>
                <a:ea typeface="Calibri"/>
              </a:rPr>
              <a:t> </a:t>
            </a:r>
            <a:r>
              <a:rPr lang="en-US" sz="1600" dirty="0" err="1">
                <a:solidFill>
                  <a:schemeClr val="tx1"/>
                </a:solidFill>
                <a:latin typeface="Times New Roman"/>
                <a:ea typeface="Calibri"/>
              </a:rPr>
              <a:t>langsung</a:t>
            </a:r>
            <a:r>
              <a:rPr lang="en-US" sz="1600" dirty="0">
                <a:solidFill>
                  <a:schemeClr val="tx1"/>
                </a:solidFill>
                <a:latin typeface="Times New Roman"/>
                <a:ea typeface="Calibri"/>
              </a:rPr>
              <a:t> </a:t>
            </a:r>
            <a:r>
              <a:rPr lang="en-US" sz="1600" dirty="0" err="1">
                <a:solidFill>
                  <a:schemeClr val="tx1"/>
                </a:solidFill>
                <a:latin typeface="Times New Roman"/>
                <a:ea typeface="Calibri"/>
              </a:rPr>
              <a:t>dengan</a:t>
            </a:r>
            <a:r>
              <a:rPr lang="en-US" sz="1600" dirty="0">
                <a:solidFill>
                  <a:schemeClr val="tx1"/>
                </a:solidFill>
                <a:latin typeface="Times New Roman"/>
                <a:ea typeface="Calibri"/>
              </a:rPr>
              <a:t> </a:t>
            </a:r>
            <a:r>
              <a:rPr lang="en-US" sz="1600" dirty="0" err="1">
                <a:solidFill>
                  <a:schemeClr val="tx1"/>
                </a:solidFill>
                <a:latin typeface="Times New Roman"/>
                <a:ea typeface="Calibri"/>
              </a:rPr>
              <a:t>pihak</a:t>
            </a:r>
            <a:r>
              <a:rPr lang="en-US" sz="1600" dirty="0">
                <a:solidFill>
                  <a:schemeClr val="tx1"/>
                </a:solidFill>
                <a:latin typeface="Times New Roman"/>
                <a:ea typeface="Calibri"/>
              </a:rPr>
              <a:t> </a:t>
            </a:r>
            <a:r>
              <a:rPr lang="en-US" sz="1600" dirty="0" err="1">
                <a:solidFill>
                  <a:schemeClr val="tx1"/>
                </a:solidFill>
                <a:latin typeface="Times New Roman"/>
                <a:ea typeface="Calibri"/>
              </a:rPr>
              <a:t>terkait</a:t>
            </a:r>
            <a:r>
              <a:rPr lang="en-US" dirty="0">
                <a:solidFill>
                  <a:schemeClr val="tx1"/>
                </a:solidFill>
                <a:latin typeface="Times New Roman"/>
                <a:ea typeface="Calibri"/>
              </a:rPr>
              <a:t>.</a:t>
            </a:r>
            <a:endParaRPr lang="en-US" dirty="0">
              <a:solidFill>
                <a:schemeClr val="tx1"/>
              </a:solidFill>
            </a:endParaRPr>
          </a:p>
        </p:txBody>
      </p:sp>
      <p:sp>
        <p:nvSpPr>
          <p:cNvPr id="5" name="Rounded Rectangle 4"/>
          <p:cNvSpPr/>
          <p:nvPr/>
        </p:nvSpPr>
        <p:spPr>
          <a:xfrm>
            <a:off x="3206257" y="4038677"/>
            <a:ext cx="2232248" cy="2376263"/>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600" b="1" dirty="0" err="1" smtClean="0">
                <a:solidFill>
                  <a:schemeClr val="tx1"/>
                </a:solidFill>
                <a:latin typeface="Times New Roman"/>
                <a:ea typeface="Calibri"/>
              </a:rPr>
              <a:t>Studi</a:t>
            </a:r>
            <a:r>
              <a:rPr lang="en-US" sz="1600" b="1" dirty="0" smtClean="0">
                <a:solidFill>
                  <a:schemeClr val="tx1"/>
                </a:solidFill>
                <a:latin typeface="Times New Roman"/>
                <a:ea typeface="Calibri"/>
              </a:rPr>
              <a:t> </a:t>
            </a:r>
            <a:r>
              <a:rPr lang="en-US" sz="1600" b="1" dirty="0" err="1" smtClean="0">
                <a:solidFill>
                  <a:schemeClr val="tx1"/>
                </a:solidFill>
                <a:latin typeface="Times New Roman"/>
                <a:ea typeface="Calibri"/>
              </a:rPr>
              <a:t>Pustaka</a:t>
            </a:r>
            <a:endParaRPr lang="en-US" sz="1600" b="1" dirty="0" smtClean="0">
              <a:solidFill>
                <a:schemeClr val="tx1"/>
              </a:solidFill>
              <a:latin typeface="Times New Roman"/>
              <a:ea typeface="Calibri"/>
            </a:endParaRPr>
          </a:p>
          <a:p>
            <a:pPr algn="ctr"/>
            <a:r>
              <a:rPr lang="en-US" sz="1600" dirty="0" err="1" smtClean="0">
                <a:solidFill>
                  <a:schemeClr val="tx1"/>
                </a:solidFill>
                <a:latin typeface="Times New Roman"/>
                <a:ea typeface="Calibri"/>
              </a:rPr>
              <a:t>Studi</a:t>
            </a:r>
            <a:r>
              <a:rPr lang="en-US" sz="1600" dirty="0" smtClean="0">
                <a:solidFill>
                  <a:schemeClr val="tx1"/>
                </a:solidFill>
                <a:latin typeface="Times New Roman"/>
                <a:ea typeface="Calibri"/>
              </a:rPr>
              <a:t> </a:t>
            </a:r>
            <a:r>
              <a:rPr lang="en-US" sz="1600" dirty="0" err="1">
                <a:solidFill>
                  <a:schemeClr val="tx1"/>
                </a:solidFill>
                <a:latin typeface="Times New Roman"/>
                <a:ea typeface="Calibri"/>
              </a:rPr>
              <a:t>pustaka</a:t>
            </a:r>
            <a:r>
              <a:rPr lang="en-US" sz="1600" dirty="0">
                <a:solidFill>
                  <a:schemeClr val="tx1"/>
                </a:solidFill>
                <a:latin typeface="Times New Roman"/>
                <a:ea typeface="Calibri"/>
              </a:rPr>
              <a:t> </a:t>
            </a:r>
            <a:r>
              <a:rPr lang="en-US" sz="1600" dirty="0" err="1">
                <a:solidFill>
                  <a:schemeClr val="tx1"/>
                </a:solidFill>
                <a:latin typeface="Times New Roman"/>
                <a:ea typeface="Calibri"/>
              </a:rPr>
              <a:t>dilakukan</a:t>
            </a:r>
            <a:r>
              <a:rPr lang="en-US" sz="1600" dirty="0">
                <a:solidFill>
                  <a:schemeClr val="tx1"/>
                </a:solidFill>
                <a:latin typeface="Times New Roman"/>
                <a:ea typeface="Calibri"/>
              </a:rPr>
              <a:t> </a:t>
            </a:r>
            <a:r>
              <a:rPr lang="en-US" sz="1600" dirty="0" err="1">
                <a:solidFill>
                  <a:schemeClr val="tx1"/>
                </a:solidFill>
                <a:latin typeface="Times New Roman"/>
                <a:ea typeface="Calibri"/>
              </a:rPr>
              <a:t>dengan</a:t>
            </a:r>
            <a:r>
              <a:rPr lang="en-US" sz="1600" dirty="0">
                <a:solidFill>
                  <a:schemeClr val="tx1"/>
                </a:solidFill>
                <a:latin typeface="Times New Roman"/>
                <a:ea typeface="Calibri"/>
              </a:rPr>
              <a:t> </a:t>
            </a:r>
            <a:r>
              <a:rPr lang="en-US" sz="1600" dirty="0" err="1">
                <a:solidFill>
                  <a:schemeClr val="tx1"/>
                </a:solidFill>
                <a:latin typeface="Times New Roman"/>
                <a:ea typeface="Calibri"/>
              </a:rPr>
              <a:t>cara</a:t>
            </a:r>
            <a:r>
              <a:rPr lang="en-US" sz="1600" dirty="0">
                <a:solidFill>
                  <a:schemeClr val="tx1"/>
                </a:solidFill>
                <a:latin typeface="Times New Roman"/>
                <a:ea typeface="Calibri"/>
              </a:rPr>
              <a:t> </a:t>
            </a:r>
            <a:r>
              <a:rPr lang="en-US" sz="1600" dirty="0" err="1">
                <a:solidFill>
                  <a:schemeClr val="tx1"/>
                </a:solidFill>
                <a:latin typeface="Times New Roman"/>
                <a:ea typeface="Calibri"/>
              </a:rPr>
              <a:t>membaca</a:t>
            </a:r>
            <a:r>
              <a:rPr lang="en-US" sz="1600" dirty="0">
                <a:solidFill>
                  <a:schemeClr val="tx1"/>
                </a:solidFill>
                <a:latin typeface="Times New Roman"/>
                <a:ea typeface="Calibri"/>
              </a:rPr>
              <a:t> </a:t>
            </a:r>
            <a:r>
              <a:rPr lang="en-US" sz="1600" dirty="0" err="1">
                <a:solidFill>
                  <a:schemeClr val="tx1"/>
                </a:solidFill>
                <a:latin typeface="Times New Roman"/>
                <a:ea typeface="Calibri"/>
              </a:rPr>
              <a:t>dan</a:t>
            </a:r>
            <a:r>
              <a:rPr lang="en-US" sz="1600" dirty="0">
                <a:solidFill>
                  <a:schemeClr val="tx1"/>
                </a:solidFill>
                <a:latin typeface="Times New Roman"/>
                <a:ea typeface="Calibri"/>
              </a:rPr>
              <a:t> </a:t>
            </a:r>
            <a:r>
              <a:rPr lang="en-US" sz="1600" dirty="0" err="1">
                <a:solidFill>
                  <a:schemeClr val="tx1"/>
                </a:solidFill>
                <a:latin typeface="Times New Roman"/>
                <a:ea typeface="Calibri"/>
              </a:rPr>
              <a:t>mempelajari</a:t>
            </a:r>
            <a:r>
              <a:rPr lang="en-US" sz="1600" dirty="0">
                <a:solidFill>
                  <a:schemeClr val="tx1"/>
                </a:solidFill>
                <a:latin typeface="Times New Roman"/>
                <a:ea typeface="Calibri"/>
              </a:rPr>
              <a:t> </a:t>
            </a:r>
            <a:r>
              <a:rPr lang="en-US" sz="1600" dirty="0" err="1">
                <a:solidFill>
                  <a:schemeClr val="tx1"/>
                </a:solidFill>
                <a:latin typeface="Times New Roman"/>
                <a:ea typeface="Calibri"/>
              </a:rPr>
              <a:t>buku</a:t>
            </a:r>
            <a:r>
              <a:rPr lang="en-US" sz="1600" dirty="0">
                <a:solidFill>
                  <a:schemeClr val="tx1"/>
                </a:solidFill>
                <a:latin typeface="Times New Roman"/>
                <a:ea typeface="Calibri"/>
              </a:rPr>
              <a:t> </a:t>
            </a:r>
            <a:r>
              <a:rPr lang="en-US" sz="1600" dirty="0" err="1">
                <a:solidFill>
                  <a:schemeClr val="tx1"/>
                </a:solidFill>
                <a:latin typeface="Times New Roman"/>
                <a:ea typeface="Calibri"/>
              </a:rPr>
              <a:t>literasi</a:t>
            </a:r>
            <a:r>
              <a:rPr lang="en-US" sz="1600" dirty="0">
                <a:solidFill>
                  <a:schemeClr val="tx1"/>
                </a:solidFill>
                <a:latin typeface="Times New Roman"/>
                <a:ea typeface="Calibri"/>
              </a:rPr>
              <a:t> </a:t>
            </a:r>
            <a:r>
              <a:rPr lang="en-US" sz="1600" dirty="0" err="1">
                <a:solidFill>
                  <a:schemeClr val="tx1"/>
                </a:solidFill>
                <a:latin typeface="Times New Roman"/>
                <a:ea typeface="Calibri"/>
              </a:rPr>
              <a:t>serta</a:t>
            </a:r>
            <a:r>
              <a:rPr lang="en-US" sz="1600" dirty="0">
                <a:solidFill>
                  <a:schemeClr val="tx1"/>
                </a:solidFill>
                <a:latin typeface="Times New Roman"/>
                <a:ea typeface="Calibri"/>
              </a:rPr>
              <a:t> </a:t>
            </a:r>
            <a:r>
              <a:rPr lang="en-US" sz="1600" dirty="0" err="1">
                <a:solidFill>
                  <a:schemeClr val="tx1"/>
                </a:solidFill>
                <a:latin typeface="Times New Roman"/>
                <a:ea typeface="Calibri"/>
              </a:rPr>
              <a:t>hasil</a:t>
            </a:r>
            <a:r>
              <a:rPr lang="en-US" sz="1600" dirty="0">
                <a:solidFill>
                  <a:schemeClr val="tx1"/>
                </a:solidFill>
                <a:latin typeface="Times New Roman"/>
                <a:ea typeface="Calibri"/>
              </a:rPr>
              <a:t> </a:t>
            </a:r>
            <a:r>
              <a:rPr lang="en-US" sz="1600" dirty="0" err="1">
                <a:solidFill>
                  <a:schemeClr val="tx1"/>
                </a:solidFill>
                <a:latin typeface="Times New Roman"/>
                <a:ea typeface="Calibri"/>
              </a:rPr>
              <a:t>dari</a:t>
            </a:r>
            <a:r>
              <a:rPr lang="en-US" sz="1600" dirty="0">
                <a:solidFill>
                  <a:schemeClr val="tx1"/>
                </a:solidFill>
                <a:latin typeface="Times New Roman"/>
                <a:ea typeface="Calibri"/>
              </a:rPr>
              <a:t> </a:t>
            </a:r>
            <a:r>
              <a:rPr lang="en-US" sz="1600" dirty="0" err="1">
                <a:solidFill>
                  <a:schemeClr val="tx1"/>
                </a:solidFill>
                <a:latin typeface="Times New Roman"/>
                <a:ea typeface="Calibri"/>
              </a:rPr>
              <a:t>penelitian</a:t>
            </a:r>
            <a:r>
              <a:rPr lang="en-US" sz="1600" dirty="0">
                <a:solidFill>
                  <a:schemeClr val="tx1"/>
                </a:solidFill>
                <a:latin typeface="Times New Roman"/>
                <a:ea typeface="Calibri"/>
              </a:rPr>
              <a:t> orang lain yang </a:t>
            </a:r>
            <a:r>
              <a:rPr lang="en-US" sz="1600" dirty="0" err="1">
                <a:solidFill>
                  <a:schemeClr val="tx1"/>
                </a:solidFill>
                <a:latin typeface="Times New Roman"/>
                <a:ea typeface="Calibri"/>
              </a:rPr>
              <a:t>berhubungan</a:t>
            </a:r>
            <a:r>
              <a:rPr lang="en-US" sz="1600" dirty="0">
                <a:solidFill>
                  <a:schemeClr val="tx1"/>
                </a:solidFill>
                <a:latin typeface="Times New Roman"/>
                <a:ea typeface="Calibri"/>
              </a:rPr>
              <a:t> </a:t>
            </a:r>
            <a:r>
              <a:rPr lang="en-US" sz="1600" dirty="0" err="1">
                <a:solidFill>
                  <a:schemeClr val="tx1"/>
                </a:solidFill>
                <a:latin typeface="Times New Roman"/>
                <a:ea typeface="Calibri"/>
              </a:rPr>
              <a:t>dengan</a:t>
            </a:r>
            <a:r>
              <a:rPr lang="en-US" sz="1600" dirty="0">
                <a:solidFill>
                  <a:schemeClr val="tx1"/>
                </a:solidFill>
                <a:latin typeface="Times New Roman"/>
                <a:ea typeface="Calibri"/>
              </a:rPr>
              <a:t> </a:t>
            </a:r>
            <a:r>
              <a:rPr lang="en-US" sz="1600" dirty="0" err="1">
                <a:solidFill>
                  <a:schemeClr val="tx1"/>
                </a:solidFill>
                <a:latin typeface="Times New Roman"/>
                <a:ea typeface="Calibri"/>
              </a:rPr>
              <a:t>penelitian</a:t>
            </a:r>
            <a:r>
              <a:rPr lang="en-US" sz="1600" dirty="0">
                <a:solidFill>
                  <a:schemeClr val="tx1"/>
                </a:solidFill>
                <a:latin typeface="Times New Roman"/>
                <a:ea typeface="Calibri"/>
              </a:rPr>
              <a:t> </a:t>
            </a:r>
            <a:r>
              <a:rPr lang="en-US" sz="1600" dirty="0" err="1">
                <a:solidFill>
                  <a:schemeClr val="tx1"/>
                </a:solidFill>
                <a:latin typeface="Times New Roman"/>
                <a:ea typeface="Calibri"/>
              </a:rPr>
              <a:t>ini</a:t>
            </a:r>
            <a:endParaRPr lang="en-US" sz="1600" dirty="0">
              <a:solidFill>
                <a:schemeClr val="tx1"/>
              </a:solidFill>
            </a:endParaRPr>
          </a:p>
        </p:txBody>
      </p:sp>
      <p:sp>
        <p:nvSpPr>
          <p:cNvPr id="6" name="Right Arrow 5"/>
          <p:cNvSpPr/>
          <p:nvPr/>
        </p:nvSpPr>
        <p:spPr>
          <a:xfrm>
            <a:off x="2703114" y="4956778"/>
            <a:ext cx="504056" cy="540060"/>
          </a:xfrm>
          <a:prstGeom prst="righ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5438505" y="4940988"/>
            <a:ext cx="501647" cy="576065"/>
          </a:xfrm>
          <a:prstGeom prst="righ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8332" y="289947"/>
            <a:ext cx="3322637" cy="87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054950" y="1457782"/>
            <a:ext cx="6709399" cy="923330"/>
          </a:xfrm>
          <a:prstGeom prst="rect">
            <a:avLst/>
          </a:prstGeom>
        </p:spPr>
        <p:txBody>
          <a:bodyPr wrap="square">
            <a:spAutoFit/>
          </a:bodyPr>
          <a:lstStyle/>
          <a:p>
            <a:pPr lvl="0" algn="just"/>
            <a:r>
              <a:rPr lang="en-US" dirty="0" err="1">
                <a:solidFill>
                  <a:prstClr val="black"/>
                </a:solidFill>
                <a:latin typeface="Times New Roman" pitchFamily="18" charset="0"/>
                <a:cs typeface="Times New Roman" pitchFamily="18" charset="0"/>
              </a:rPr>
              <a:t>Penelitian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ini</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akan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dilakukan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pada</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bulan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Januari</a:t>
            </a:r>
            <a:r>
              <a:rPr lang="en-US" dirty="0">
                <a:solidFill>
                  <a:prstClr val="black"/>
                </a:solidFill>
                <a:latin typeface="Times New Roman" pitchFamily="18" charset="0"/>
                <a:cs typeface="Times New Roman" pitchFamily="18" charset="0"/>
              </a:rPr>
              <a:t> 2022 </a:t>
            </a:r>
            <a:r>
              <a:rPr lang="en-US" dirty="0" err="1">
                <a:solidFill>
                  <a:prstClr val="black"/>
                </a:solidFill>
                <a:latin typeface="Times New Roman" pitchFamily="18" charset="0"/>
                <a:cs typeface="Times New Roman" pitchFamily="18" charset="0"/>
              </a:rPr>
              <a:t>sampai</a:t>
            </a:r>
            <a:r>
              <a:rPr lang="en-US" dirty="0">
                <a:solidFill>
                  <a:prstClr val="black"/>
                </a:solidFill>
                <a:latin typeface="Times New Roman" pitchFamily="18" charset="0"/>
                <a:cs typeface="Times New Roman" pitchFamily="18" charset="0"/>
              </a:rPr>
              <a:t> April 2022. </a:t>
            </a:r>
            <a:r>
              <a:rPr lang="en-US" dirty="0" err="1">
                <a:solidFill>
                  <a:prstClr val="black"/>
                </a:solidFill>
                <a:latin typeface="Times New Roman" pitchFamily="18" charset="0"/>
                <a:cs typeface="Times New Roman" pitchFamily="18" charset="0"/>
              </a:rPr>
              <a:t>sedangkan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tempat</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penelitian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akan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dilaksanakan</a:t>
            </a:r>
            <a:r>
              <a:rPr lang="en-US" dirty="0">
                <a:solidFill>
                  <a:prstClr val="black"/>
                </a:solidFill>
                <a:latin typeface="Times New Roman" pitchFamily="18" charset="0"/>
                <a:cs typeface="Times New Roman" pitchFamily="18" charset="0"/>
              </a:rPr>
              <a:t> di </a:t>
            </a:r>
            <a:r>
              <a:rPr lang="en-US" dirty="0" err="1">
                <a:solidFill>
                  <a:prstClr val="black"/>
                </a:solidFill>
                <a:latin typeface="Times New Roman" pitchFamily="18" charset="0"/>
                <a:cs typeface="Times New Roman" pitchFamily="18" charset="0"/>
              </a:rPr>
              <a:t>Yayasan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Pendidikan</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Tekonologi</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Kec</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Lohia</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Kab</a:t>
            </a:r>
            <a:r>
              <a:rPr lang="en-US" dirty="0">
                <a:solidFill>
                  <a:prstClr val="black"/>
                </a:solidFill>
                <a:latin typeface="Times New Roman" pitchFamily="18" charset="0"/>
                <a:cs typeface="Times New Roman" pitchFamily="18" charset="0"/>
              </a:rPr>
              <a:t>. </a:t>
            </a:r>
            <a:r>
              <a:rPr lang="en-US" dirty="0" err="1">
                <a:solidFill>
                  <a:prstClr val="black"/>
                </a:solidFill>
                <a:latin typeface="Times New Roman" pitchFamily="18" charset="0"/>
                <a:cs typeface="Times New Roman" pitchFamily="18" charset="0"/>
              </a:rPr>
              <a:t>Muna</a:t>
            </a:r>
            <a:r>
              <a:rPr lang="en-US" dirty="0">
                <a:solidFill>
                  <a:prstClr val="black"/>
                </a:solidFill>
                <a:latin typeface="Times New Roman" pitchFamily="18" charset="0"/>
                <a:cs typeface="Times New Roman" pitchFamily="18" charset="0"/>
              </a:rPr>
              <a:t> Sulawesi Tenggara. </a:t>
            </a:r>
          </a:p>
        </p:txBody>
      </p:sp>
    </p:spTree>
    <p:extLst>
      <p:ext uri="{BB962C8B-B14F-4D97-AF65-F5344CB8AC3E}">
        <p14:creationId xmlns:p14="http://schemas.microsoft.com/office/powerpoint/2010/main" val="14346561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Horizontal Scroll 1"/>
          <p:cNvSpPr/>
          <p:nvPr/>
        </p:nvSpPr>
        <p:spPr>
          <a:xfrm>
            <a:off x="2771800" y="548680"/>
            <a:ext cx="4320480" cy="1008112"/>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latin typeface="Times New Roman" pitchFamily="18" charset="0"/>
                <a:cs typeface="Times New Roman" pitchFamily="18" charset="0"/>
              </a:rPr>
              <a:t>Perancangan</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dan</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Pengembangan</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Sistem</a:t>
            </a:r>
            <a:endParaRPr lang="en-US" b="1" dirty="0">
              <a:solidFill>
                <a:schemeClr val="tx1"/>
              </a:solidFill>
              <a:latin typeface="Times New Roman" pitchFamily="18" charset="0"/>
              <a:cs typeface="Times New Roman" pitchFamily="18" charset="0"/>
            </a:endParaRPr>
          </a:p>
        </p:txBody>
      </p:sp>
      <p:sp>
        <p:nvSpPr>
          <p:cNvPr id="3" name="Right Triangle 2"/>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217498" y="2366163"/>
            <a:ext cx="1872208" cy="296215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err="1" smtClean="0">
                <a:solidFill>
                  <a:schemeClr val="tx1"/>
                </a:solidFill>
                <a:latin typeface="Times New Roman" pitchFamily="18" charset="0"/>
                <a:cs typeface="Times New Roman" pitchFamily="18" charset="0"/>
              </a:rPr>
              <a:t>Analisis</a:t>
            </a:r>
            <a:r>
              <a:rPr lang="en-US" sz="1200" b="1" dirty="0" smtClean="0">
                <a:solidFill>
                  <a:schemeClr val="tx1"/>
                </a:solidFill>
                <a:latin typeface="Times New Roman" pitchFamily="18" charset="0"/>
                <a:cs typeface="Times New Roman" pitchFamily="18" charset="0"/>
              </a:rPr>
              <a:t> </a:t>
            </a:r>
          </a:p>
          <a:p>
            <a:pPr algn="ctr">
              <a:lnSpc>
                <a:spcPct val="150000"/>
              </a:lnSpc>
            </a:pPr>
            <a:r>
              <a:rPr lang="en-US" sz="1200" dirty="0" smtClean="0">
                <a:solidFill>
                  <a:schemeClr val="tx1"/>
                </a:solidFill>
                <a:latin typeface="Times New Roman" pitchFamily="18" charset="0"/>
                <a:cs typeface="Times New Roman" pitchFamily="18" charset="0"/>
              </a:rPr>
              <a:t>Proses </a:t>
            </a:r>
            <a:r>
              <a:rPr lang="en-US" sz="1200" dirty="0" err="1">
                <a:solidFill>
                  <a:schemeClr val="tx1"/>
                </a:solidFill>
                <a:latin typeface="Times New Roman" pitchFamily="18" charset="0"/>
                <a:cs typeface="Times New Roman" pitchFamily="18" charset="0"/>
              </a:rPr>
              <a:t>pengumpulan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kebutuhan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dilakukan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secara</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intensif</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untuk</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menspesifikasikan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kebutuhan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perangkat</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lunak</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seperti</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apa</a:t>
            </a:r>
            <a:r>
              <a:rPr lang="en-US" sz="1200" dirty="0">
                <a:solidFill>
                  <a:schemeClr val="tx1"/>
                </a:solidFill>
                <a:latin typeface="Times New Roman" pitchFamily="18" charset="0"/>
                <a:cs typeface="Times New Roman" pitchFamily="18" charset="0"/>
              </a:rPr>
              <a:t> yang </a:t>
            </a:r>
            <a:r>
              <a:rPr lang="en-US" sz="1200" dirty="0" err="1">
                <a:solidFill>
                  <a:schemeClr val="tx1"/>
                </a:solidFill>
                <a:latin typeface="Times New Roman" pitchFamily="18" charset="0"/>
                <a:cs typeface="Times New Roman" pitchFamily="18" charset="0"/>
              </a:rPr>
              <a:t>dibutuhkan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oleh</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pengguna</a:t>
            </a:r>
            <a:r>
              <a:rPr lang="en-US" sz="1200" dirty="0">
                <a:solidFill>
                  <a:schemeClr val="tx1"/>
                </a:solidFill>
                <a:latin typeface="Times New Roman" pitchFamily="18" charset="0"/>
                <a:cs typeface="Times New Roman" pitchFamily="18" charset="0"/>
              </a:rPr>
              <a:t> agar </a:t>
            </a:r>
            <a:r>
              <a:rPr lang="en-US" sz="1200" dirty="0" err="1">
                <a:solidFill>
                  <a:schemeClr val="tx1"/>
                </a:solidFill>
                <a:latin typeface="Times New Roman" pitchFamily="18" charset="0"/>
                <a:cs typeface="Times New Roman" pitchFamily="18" charset="0"/>
              </a:rPr>
              <a:t>mudah</a:t>
            </a:r>
            <a:r>
              <a:rPr lang="en-US" sz="1200" dirty="0">
                <a:solidFill>
                  <a:schemeClr val="tx1"/>
                </a:solidFill>
                <a:latin typeface="Times New Roman" pitchFamily="18" charset="0"/>
                <a:cs typeface="Times New Roman" pitchFamily="18" charset="0"/>
              </a:rPr>
              <a:t> </a:t>
            </a:r>
            <a:r>
              <a:rPr lang="en-US" sz="1200" dirty="0" err="1" smtClean="0">
                <a:solidFill>
                  <a:schemeClr val="tx1"/>
                </a:solidFill>
                <a:latin typeface="Times New Roman" pitchFamily="18" charset="0"/>
                <a:cs typeface="Times New Roman" pitchFamily="18" charset="0"/>
              </a:rPr>
              <a:t>dipahami</a:t>
            </a:r>
            <a:r>
              <a:rPr lang="en-US" sz="1200" dirty="0">
                <a:solidFill>
                  <a:schemeClr val="tx1"/>
                </a:solidFill>
              </a:rPr>
              <a:t>.</a:t>
            </a:r>
            <a:endParaRPr lang="en-US" sz="1200" dirty="0"/>
          </a:p>
        </p:txBody>
      </p:sp>
      <p:sp>
        <p:nvSpPr>
          <p:cNvPr id="6" name="Rounded Rectangle 5"/>
          <p:cNvSpPr/>
          <p:nvPr/>
        </p:nvSpPr>
        <p:spPr>
          <a:xfrm>
            <a:off x="1907704" y="2377560"/>
            <a:ext cx="1728192" cy="295075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err="1" smtClean="0">
                <a:solidFill>
                  <a:schemeClr val="tx1"/>
                </a:solidFill>
                <a:latin typeface="Times New Roman" pitchFamily="18" charset="0"/>
                <a:cs typeface="Times New Roman" pitchFamily="18" charset="0"/>
              </a:rPr>
              <a:t>Desain</a:t>
            </a:r>
            <a:r>
              <a:rPr lang="en-US" sz="1200" b="1" dirty="0" smtClean="0">
                <a:solidFill>
                  <a:schemeClr val="tx1"/>
                </a:solidFill>
                <a:latin typeface="Times New Roman" pitchFamily="18" charset="0"/>
                <a:cs typeface="Times New Roman" pitchFamily="18" charset="0"/>
              </a:rPr>
              <a:t> </a:t>
            </a:r>
          </a:p>
          <a:p>
            <a:pPr algn="ctr">
              <a:lnSpc>
                <a:spcPct val="150000"/>
              </a:lnSpc>
            </a:pPr>
            <a:r>
              <a:rPr lang="id-ID" sz="1200" dirty="0" smtClean="0">
                <a:solidFill>
                  <a:schemeClr val="tx1"/>
                </a:solidFill>
                <a:latin typeface="Times New Roman" pitchFamily="18" charset="0"/>
                <a:cs typeface="Times New Roman" pitchFamily="18" charset="0"/>
              </a:rPr>
              <a:t>Desain </a:t>
            </a:r>
            <a:r>
              <a:rPr lang="id-ID" sz="1200" dirty="0">
                <a:solidFill>
                  <a:schemeClr val="tx1"/>
                </a:solidFill>
                <a:latin typeface="Times New Roman" pitchFamily="18" charset="0"/>
                <a:cs typeface="Times New Roman" pitchFamily="18" charset="0"/>
              </a:rPr>
              <a:t>perangkat lunak </a:t>
            </a:r>
            <a:r>
              <a:rPr lang="en-US" sz="1200" dirty="0" err="1">
                <a:solidFill>
                  <a:schemeClr val="tx1"/>
                </a:solidFill>
                <a:latin typeface="Times New Roman" pitchFamily="18" charset="0"/>
                <a:cs typeface="Times New Roman" pitchFamily="18" charset="0"/>
              </a:rPr>
              <a:t>terfoku</a:t>
            </a:r>
            <a:r>
              <a:rPr lang="id-ID" sz="1200" dirty="0">
                <a:solidFill>
                  <a:schemeClr val="tx1"/>
                </a:solidFill>
                <a:latin typeface="Times New Roman" pitchFamily="18" charset="0"/>
                <a:cs typeface="Times New Roman" pitchFamily="18" charset="0"/>
              </a:rPr>
              <a:t>s </a:t>
            </a:r>
            <a:r>
              <a:rPr lang="en-US" sz="1200" dirty="0" err="1">
                <a:solidFill>
                  <a:schemeClr val="tx1"/>
                </a:solidFill>
                <a:latin typeface="Times New Roman" pitchFamily="18" charset="0"/>
                <a:cs typeface="Times New Roman" pitchFamily="18" charset="0"/>
              </a:rPr>
              <a:t>pada</a:t>
            </a:r>
            <a:r>
              <a:rPr lang="en-US" sz="1200" dirty="0">
                <a:solidFill>
                  <a:schemeClr val="tx1"/>
                </a:solidFill>
                <a:latin typeface="Times New Roman" pitchFamily="18" charset="0"/>
                <a:cs typeface="Times New Roman" pitchFamily="18" charset="0"/>
              </a:rPr>
              <a:t> </a:t>
            </a:r>
            <a:r>
              <a:rPr lang="id-ID" sz="1200" dirty="0">
                <a:solidFill>
                  <a:schemeClr val="tx1"/>
                </a:solidFill>
                <a:latin typeface="Times New Roman" pitchFamily="18" charset="0"/>
                <a:cs typeface="Times New Roman" pitchFamily="18" charset="0"/>
              </a:rPr>
              <a:t>pembuatan program perangkat lunak termasuk struktur data, arsitektur perangkat lunak, representasi antar muka dan prosedur pengkodean</a:t>
            </a:r>
            <a:r>
              <a:rPr lang="id-ID" sz="1200" dirty="0" smtClean="0">
                <a:solidFill>
                  <a:schemeClr val="tx1"/>
                </a:solidFill>
              </a:rPr>
              <a:t>.</a:t>
            </a:r>
            <a:endParaRPr lang="en-US" sz="1200" dirty="0">
              <a:solidFill>
                <a:schemeClr val="tx1"/>
              </a:solidFill>
            </a:endParaRPr>
          </a:p>
        </p:txBody>
      </p:sp>
      <p:sp>
        <p:nvSpPr>
          <p:cNvPr id="7" name="Rounded Rectangle 6"/>
          <p:cNvSpPr/>
          <p:nvPr/>
        </p:nvSpPr>
        <p:spPr>
          <a:xfrm>
            <a:off x="3635896" y="2313661"/>
            <a:ext cx="1512168" cy="3010997"/>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err="1" smtClean="0">
                <a:solidFill>
                  <a:schemeClr val="tx1"/>
                </a:solidFill>
                <a:latin typeface="Times New Roman" pitchFamily="18" charset="0"/>
                <a:cs typeface="Times New Roman" pitchFamily="18" charset="0"/>
              </a:rPr>
              <a:t>Pembuatan</a:t>
            </a:r>
            <a:r>
              <a:rPr lang="en-US" sz="1200" b="1" dirty="0" smtClean="0">
                <a:solidFill>
                  <a:schemeClr val="tx1"/>
                </a:solidFill>
                <a:latin typeface="Times New Roman" pitchFamily="18" charset="0"/>
                <a:cs typeface="Times New Roman" pitchFamily="18" charset="0"/>
              </a:rPr>
              <a:t> </a:t>
            </a:r>
            <a:r>
              <a:rPr lang="en-US" sz="1200" b="1" dirty="0" err="1" smtClean="0">
                <a:solidFill>
                  <a:schemeClr val="tx1"/>
                </a:solidFill>
                <a:latin typeface="Times New Roman" pitchFamily="18" charset="0"/>
                <a:cs typeface="Times New Roman" pitchFamily="18" charset="0"/>
              </a:rPr>
              <a:t>kode</a:t>
            </a:r>
            <a:r>
              <a:rPr lang="en-US" sz="1200" b="1" dirty="0" smtClean="0">
                <a:solidFill>
                  <a:schemeClr val="tx1"/>
                </a:solidFill>
                <a:latin typeface="Times New Roman" pitchFamily="18" charset="0"/>
                <a:cs typeface="Times New Roman" pitchFamily="18" charset="0"/>
              </a:rPr>
              <a:t> program</a:t>
            </a:r>
          </a:p>
          <a:p>
            <a:pPr algn="ctr">
              <a:lnSpc>
                <a:spcPct val="150000"/>
              </a:lnSpc>
            </a:pPr>
            <a:r>
              <a:rPr lang="en-US" sz="1200" dirty="0" err="1" smtClean="0">
                <a:solidFill>
                  <a:schemeClr val="tx1"/>
                </a:solidFill>
                <a:latin typeface="Times New Roman" pitchFamily="18" charset="0"/>
                <a:cs typeface="Times New Roman" pitchFamily="18" charset="0"/>
              </a:rPr>
              <a:t>tahap</a:t>
            </a:r>
            <a:r>
              <a:rPr lang="en-US" sz="1200" dirty="0" smtClean="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ini</a:t>
            </a:r>
            <a:r>
              <a:rPr lang="en-US" sz="1200" dirty="0">
                <a:solidFill>
                  <a:schemeClr val="tx1"/>
                </a:solidFill>
                <a:latin typeface="Times New Roman" pitchFamily="18" charset="0"/>
                <a:cs typeface="Times New Roman" pitchFamily="18" charset="0"/>
              </a:rPr>
              <a:t> </a:t>
            </a:r>
            <a:r>
              <a:rPr lang="en-US" sz="1200" dirty="0" err="1" smtClean="0">
                <a:solidFill>
                  <a:schemeClr val="tx1"/>
                </a:solidFill>
                <a:latin typeface="Times New Roman" pitchFamily="18" charset="0"/>
                <a:cs typeface="Times New Roman" pitchFamily="18" charset="0"/>
              </a:rPr>
              <a:t>menghasilkan</a:t>
            </a:r>
            <a:r>
              <a:rPr lang="en-US" sz="1200" dirty="0" smtClean="0">
                <a:solidFill>
                  <a:schemeClr val="tx1"/>
                </a:solidFill>
                <a:latin typeface="Times New Roman" pitchFamily="18" charset="0"/>
                <a:cs typeface="Times New Roman" pitchFamily="18" charset="0"/>
              </a:rPr>
              <a:t> program </a:t>
            </a:r>
            <a:r>
              <a:rPr lang="en-US" sz="1200" dirty="0" err="1">
                <a:solidFill>
                  <a:schemeClr val="tx1"/>
                </a:solidFill>
                <a:latin typeface="Times New Roman" pitchFamily="18" charset="0"/>
                <a:cs typeface="Times New Roman" pitchFamily="18" charset="0"/>
              </a:rPr>
              <a:t>komputer</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sesuai</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dengan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desain</a:t>
            </a:r>
            <a:r>
              <a:rPr lang="en-US" sz="1200" dirty="0">
                <a:solidFill>
                  <a:schemeClr val="tx1"/>
                </a:solidFill>
                <a:latin typeface="Times New Roman" pitchFamily="18" charset="0"/>
                <a:cs typeface="Times New Roman" pitchFamily="18" charset="0"/>
              </a:rPr>
              <a:t> yang </a:t>
            </a:r>
            <a:r>
              <a:rPr lang="en-US" sz="1200" dirty="0" err="1">
                <a:solidFill>
                  <a:schemeClr val="tx1"/>
                </a:solidFill>
                <a:latin typeface="Times New Roman" pitchFamily="18" charset="0"/>
                <a:cs typeface="Times New Roman" pitchFamily="18" charset="0"/>
              </a:rPr>
              <a:t>telah</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dibuat</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pada</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tahap</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desain</a:t>
            </a:r>
            <a:r>
              <a:rPr lang="en-US" sz="1200" dirty="0" smtClean="0">
                <a:solidFill>
                  <a:schemeClr val="tx1"/>
                </a:solidFill>
                <a:latin typeface="Times New Roman" pitchFamily="18" charset="0"/>
                <a:cs typeface="Times New Roman" pitchFamily="18" charset="0"/>
              </a:rPr>
              <a:t>.</a:t>
            </a:r>
            <a:endParaRPr lang="en-US" sz="1200" dirty="0">
              <a:solidFill>
                <a:schemeClr val="tx1"/>
              </a:solidFill>
              <a:latin typeface="Times New Roman" pitchFamily="18" charset="0"/>
              <a:cs typeface="Times New Roman" pitchFamily="18" charset="0"/>
            </a:endParaRPr>
          </a:p>
        </p:txBody>
      </p:sp>
      <p:sp>
        <p:nvSpPr>
          <p:cNvPr id="8" name="Rounded Rectangle 7"/>
          <p:cNvSpPr/>
          <p:nvPr/>
        </p:nvSpPr>
        <p:spPr>
          <a:xfrm>
            <a:off x="5115684" y="2340768"/>
            <a:ext cx="1656184" cy="3024337"/>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err="1" smtClean="0">
                <a:solidFill>
                  <a:schemeClr val="tx1"/>
                </a:solidFill>
                <a:latin typeface="Times New Roman" pitchFamily="18" charset="0"/>
                <a:cs typeface="Times New Roman" pitchFamily="18" charset="0"/>
              </a:rPr>
              <a:t>Pengujian</a:t>
            </a:r>
            <a:r>
              <a:rPr lang="en-US" sz="1200" b="1" dirty="0" smtClean="0">
                <a:solidFill>
                  <a:schemeClr val="tx1"/>
                </a:solidFill>
                <a:latin typeface="Times New Roman" pitchFamily="18" charset="0"/>
                <a:cs typeface="Times New Roman" pitchFamily="18" charset="0"/>
              </a:rPr>
              <a:t> </a:t>
            </a:r>
          </a:p>
          <a:p>
            <a:pPr>
              <a:lnSpc>
                <a:spcPct val="150000"/>
              </a:lnSpc>
            </a:pPr>
            <a:r>
              <a:rPr lang="id-ID" sz="1200" dirty="0" smtClean="0">
                <a:solidFill>
                  <a:schemeClr val="tx1"/>
                </a:solidFill>
                <a:latin typeface="Times New Roman" pitchFamily="18" charset="0"/>
                <a:cs typeface="Times New Roman" pitchFamily="18" charset="0"/>
              </a:rPr>
              <a:t>Pengujian </a:t>
            </a:r>
            <a:r>
              <a:rPr lang="id-ID" sz="1200" dirty="0">
                <a:solidFill>
                  <a:schemeClr val="tx1"/>
                </a:solidFill>
                <a:latin typeface="Times New Roman" pitchFamily="18" charset="0"/>
                <a:cs typeface="Times New Roman" pitchFamily="18" charset="0"/>
              </a:rPr>
              <a:t>fokus pada perangkat lunak dari segi logika dan fungsional serta memastikan bahwa semua bagian sudah diuji sehingga </a:t>
            </a:r>
            <a:r>
              <a:rPr lang="en-US" sz="1200" dirty="0" err="1">
                <a:solidFill>
                  <a:schemeClr val="tx1"/>
                </a:solidFill>
                <a:latin typeface="Times New Roman" pitchFamily="18" charset="0"/>
                <a:cs typeface="Times New Roman" pitchFamily="18" charset="0"/>
              </a:rPr>
              <a:t>dapat</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meminimalisir</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kesalahan</a:t>
            </a:r>
            <a:r>
              <a:rPr lang="en-US" sz="1200" dirty="0">
                <a:solidFill>
                  <a:schemeClr val="tx1"/>
                </a:solidFill>
                <a:latin typeface="Times New Roman" pitchFamily="18" charset="0"/>
                <a:cs typeface="Times New Roman" pitchFamily="18" charset="0"/>
              </a:rPr>
              <a:t> (</a:t>
            </a:r>
            <a:r>
              <a:rPr lang="en-US" sz="1200" i="1" dirty="0">
                <a:solidFill>
                  <a:schemeClr val="tx1"/>
                </a:solidFill>
                <a:latin typeface="Times New Roman" pitchFamily="18" charset="0"/>
                <a:cs typeface="Times New Roman" pitchFamily="18" charset="0"/>
              </a:rPr>
              <a:t>error</a:t>
            </a:r>
            <a:r>
              <a:rPr lang="en-US" sz="1200" dirty="0">
                <a:solidFill>
                  <a:schemeClr val="tx1"/>
                </a:solidFill>
                <a:latin typeface="Times New Roman" pitchFamily="18" charset="0"/>
                <a:cs typeface="Times New Roman" pitchFamily="18" charset="0"/>
              </a:rPr>
              <a:t>) </a:t>
            </a:r>
            <a:r>
              <a:rPr lang="id-ID" sz="1200" dirty="0" smtClean="0">
                <a:solidFill>
                  <a:schemeClr val="tx1"/>
                </a:solidFill>
                <a:latin typeface="Times New Roman" pitchFamily="18" charset="0"/>
                <a:cs typeface="Times New Roman" pitchFamily="18" charset="0"/>
              </a:rPr>
              <a:t>.</a:t>
            </a:r>
            <a:endParaRPr lang="en-US" sz="1200" dirty="0">
              <a:solidFill>
                <a:schemeClr val="tx1"/>
              </a:solidFill>
              <a:latin typeface="Times New Roman" pitchFamily="18" charset="0"/>
              <a:cs typeface="Times New Roman" pitchFamily="18" charset="0"/>
            </a:endParaRPr>
          </a:p>
        </p:txBody>
      </p:sp>
      <p:sp>
        <p:nvSpPr>
          <p:cNvPr id="9" name="Rounded Rectangle 8"/>
          <p:cNvSpPr/>
          <p:nvPr/>
        </p:nvSpPr>
        <p:spPr>
          <a:xfrm>
            <a:off x="6718005" y="2377560"/>
            <a:ext cx="1872208" cy="3084578"/>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err="1" smtClean="0">
                <a:solidFill>
                  <a:schemeClr val="tx1"/>
                </a:solidFill>
                <a:latin typeface="Times New Roman" pitchFamily="18" charset="0"/>
                <a:cs typeface="Times New Roman" pitchFamily="18" charset="0"/>
              </a:rPr>
              <a:t>Pemeliharaan</a:t>
            </a:r>
            <a:r>
              <a:rPr lang="en-US" sz="1200" b="1" dirty="0" smtClean="0">
                <a:solidFill>
                  <a:schemeClr val="tx1"/>
                </a:solidFill>
                <a:latin typeface="Times New Roman" pitchFamily="18" charset="0"/>
                <a:cs typeface="Times New Roman" pitchFamily="18" charset="0"/>
              </a:rPr>
              <a:t> </a:t>
            </a:r>
          </a:p>
          <a:p>
            <a:pPr algn="ctr">
              <a:lnSpc>
                <a:spcPct val="150000"/>
              </a:lnSpc>
            </a:pPr>
            <a:r>
              <a:rPr lang="en-US" sz="1200" dirty="0" err="1" smtClean="0">
                <a:solidFill>
                  <a:schemeClr val="tx1"/>
                </a:solidFill>
                <a:latin typeface="Times New Roman" pitchFamily="18" charset="0"/>
                <a:cs typeface="Times New Roman" pitchFamily="18" charset="0"/>
              </a:rPr>
              <a:t>Tidak</a:t>
            </a:r>
            <a:r>
              <a:rPr lang="en-US" sz="1200" dirty="0" smtClean="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menutup</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kemungkinan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sebuah</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perangkat</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lunak</a:t>
            </a:r>
            <a:r>
              <a:rPr lang="en-US" sz="1200" dirty="0">
                <a:solidFill>
                  <a:schemeClr val="tx1"/>
                </a:solidFill>
                <a:latin typeface="Times New Roman" pitchFamily="18" charset="0"/>
                <a:cs typeface="Times New Roman" pitchFamily="18" charset="0"/>
              </a:rPr>
              <a:t> yang </a:t>
            </a:r>
            <a:r>
              <a:rPr lang="en-US" sz="1200" dirty="0" err="1">
                <a:solidFill>
                  <a:schemeClr val="tx1"/>
                </a:solidFill>
                <a:latin typeface="Times New Roman" pitchFamily="18" charset="0"/>
                <a:cs typeface="Times New Roman" pitchFamily="18" charset="0"/>
              </a:rPr>
              <a:t>telah</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dikirim</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ke</a:t>
            </a:r>
            <a:r>
              <a:rPr lang="en-US" sz="1200" dirty="0">
                <a:solidFill>
                  <a:schemeClr val="tx1"/>
                </a:solidFill>
                <a:latin typeface="Times New Roman" pitchFamily="18" charset="0"/>
                <a:cs typeface="Times New Roman" pitchFamily="18" charset="0"/>
              </a:rPr>
              <a:t> </a:t>
            </a:r>
            <a:r>
              <a:rPr lang="id-ID" sz="1200" i="1" dirty="0">
                <a:solidFill>
                  <a:schemeClr val="tx1"/>
                </a:solidFill>
                <a:latin typeface="Times New Roman" pitchFamily="18" charset="0"/>
                <a:cs typeface="Times New Roman" pitchFamily="18" charset="0"/>
              </a:rPr>
              <a:t>user</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mengalami</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perubahan</a:t>
            </a:r>
            <a:r>
              <a:rPr lang="id-ID"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Tahap</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ini</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dapat</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mengulangi</a:t>
            </a:r>
            <a:r>
              <a:rPr lang="en-US" sz="1200" dirty="0">
                <a:solidFill>
                  <a:schemeClr val="tx1"/>
                </a:solidFill>
                <a:latin typeface="Times New Roman" pitchFamily="18" charset="0"/>
                <a:cs typeface="Times New Roman" pitchFamily="18" charset="0"/>
              </a:rPr>
              <a:t> proses </a:t>
            </a:r>
            <a:r>
              <a:rPr lang="en-US" sz="1200" dirty="0" err="1">
                <a:solidFill>
                  <a:schemeClr val="tx1"/>
                </a:solidFill>
                <a:latin typeface="Times New Roman" pitchFamily="18" charset="0"/>
                <a:cs typeface="Times New Roman" pitchFamily="18" charset="0"/>
              </a:rPr>
              <a:t>pengembangan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tetapi</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bukan</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untuk</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membuat</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perangkat</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lunak</a:t>
            </a:r>
            <a:r>
              <a:rPr lang="en-US" sz="1200" dirty="0">
                <a:solidFill>
                  <a:schemeClr val="tx1"/>
                </a:solidFill>
                <a:latin typeface="Times New Roman" pitchFamily="18" charset="0"/>
                <a:cs typeface="Times New Roman" pitchFamily="18" charset="0"/>
              </a:rPr>
              <a:t> </a:t>
            </a:r>
            <a:r>
              <a:rPr lang="en-US" sz="1200" dirty="0" err="1">
                <a:solidFill>
                  <a:schemeClr val="tx1"/>
                </a:solidFill>
                <a:latin typeface="Times New Roman" pitchFamily="18" charset="0"/>
                <a:cs typeface="Times New Roman" pitchFamily="18" charset="0"/>
              </a:rPr>
              <a:t>baru</a:t>
            </a:r>
            <a:r>
              <a:rPr lang="en-US" sz="1200" dirty="0">
                <a:solidFill>
                  <a:schemeClr val="tx1"/>
                </a:solidFill>
                <a:latin typeface="Times New Roman" pitchFamily="18" charset="0"/>
                <a:cs typeface="Times New Roman" pitchFamily="18" charset="0"/>
              </a:rPr>
              <a:t>.</a:t>
            </a:r>
          </a:p>
          <a:p>
            <a:endParaRPr lang="en-US" sz="1200" dirty="0"/>
          </a:p>
        </p:txBody>
      </p:sp>
    </p:spTree>
    <p:extLst>
      <p:ext uri="{BB962C8B-B14F-4D97-AF65-F5344CB8AC3E}">
        <p14:creationId xmlns:p14="http://schemas.microsoft.com/office/powerpoint/2010/main" val="23401418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700808"/>
            <a:ext cx="8352928"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Horizontal Scroll 1"/>
          <p:cNvSpPr/>
          <p:nvPr/>
        </p:nvSpPr>
        <p:spPr>
          <a:xfrm>
            <a:off x="3179411" y="296843"/>
            <a:ext cx="3096344" cy="864096"/>
          </a:xfrm>
          <a:prstGeom prst="horizontalScroll">
            <a:avLst/>
          </a:prstGeom>
          <a:solidFill>
            <a:schemeClr val="accent1">
              <a:lumMod val="40000"/>
              <a:lumOff val="60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smtClean="0">
                <a:solidFill>
                  <a:schemeClr val="tx1"/>
                </a:solidFill>
                <a:latin typeface="Times New Roman" pitchFamily="18" charset="0"/>
                <a:cs typeface="Times New Roman" pitchFamily="18" charset="0"/>
              </a:rPr>
              <a:t>Rancangan</a:t>
            </a:r>
            <a:r>
              <a:rPr lang="en-US" b="1" dirty="0" smtClean="0">
                <a:solidFill>
                  <a:schemeClr val="tx1"/>
                </a:solidFill>
                <a:latin typeface="Times New Roman" pitchFamily="18" charset="0"/>
                <a:cs typeface="Times New Roman" pitchFamily="18" charset="0"/>
              </a:rPr>
              <a:t> </a:t>
            </a:r>
            <a:r>
              <a:rPr lang="en-US" b="1" dirty="0" err="1" smtClean="0">
                <a:solidFill>
                  <a:schemeClr val="tx1"/>
                </a:solidFill>
                <a:latin typeface="Times New Roman" pitchFamily="18" charset="0"/>
                <a:cs typeface="Times New Roman" pitchFamily="18" charset="0"/>
              </a:rPr>
              <a:t>Sistem</a:t>
            </a:r>
            <a:r>
              <a:rPr lang="en-US" b="1" dirty="0" smtClean="0">
                <a:solidFill>
                  <a:schemeClr val="tx1"/>
                </a:solidFill>
                <a:latin typeface="Times New Roman" pitchFamily="18" charset="0"/>
                <a:cs typeface="Times New Roman" pitchFamily="18" charset="0"/>
              </a:rPr>
              <a:t> / ERD</a:t>
            </a:r>
            <a:endParaRPr lang="en-US" b="1" dirty="0">
              <a:solidFill>
                <a:schemeClr val="tx1"/>
              </a:solidFill>
              <a:latin typeface="Times New Roman" pitchFamily="18" charset="0"/>
              <a:cs typeface="Times New Roman" pitchFamily="18" charset="0"/>
            </a:endParaRPr>
          </a:p>
        </p:txBody>
      </p:sp>
      <p:sp>
        <p:nvSpPr>
          <p:cNvPr id="4" name="Right Triangle 3"/>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82183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EF1E6"/>
        </a:solidFill>
        <a:effectLst/>
      </p:bgPr>
    </p:bg>
    <p:spTree>
      <p:nvGrpSpPr>
        <p:cNvPr id="1" name=""/>
        <p:cNvGrpSpPr/>
        <p:nvPr/>
      </p:nvGrpSpPr>
      <p:grpSpPr>
        <a:xfrm>
          <a:off x="0" y="0"/>
          <a:ext cx="0" cy="0"/>
          <a:chOff x="0" y="0"/>
          <a:chExt cx="0" cy="0"/>
        </a:xfrm>
      </p:grpSpPr>
      <p:sp>
        <p:nvSpPr>
          <p:cNvPr id="2" name="TextBox 1"/>
          <p:cNvSpPr txBox="1"/>
          <p:nvPr/>
        </p:nvSpPr>
        <p:spPr>
          <a:xfrm>
            <a:off x="1835696" y="2780928"/>
            <a:ext cx="5688632" cy="986360"/>
          </a:xfrm>
          <a:prstGeom prst="rect">
            <a:avLst/>
          </a:prstGeom>
          <a:noFill/>
        </p:spPr>
        <p:txBody>
          <a:bodyPr wrap="square" rtlCol="0">
            <a:spAutoFit/>
          </a:bodyPr>
          <a:lstStyle/>
          <a:p>
            <a:pPr algn="ctr">
              <a:lnSpc>
                <a:spcPct val="150000"/>
              </a:lnSpc>
            </a:pPr>
            <a:r>
              <a:rPr lang="en-US" sz="4400" b="1" dirty="0" smtClean="0">
                <a:latin typeface="Times New Roman" pitchFamily="18" charset="0"/>
                <a:cs typeface="Times New Roman" pitchFamily="18" charset="0"/>
              </a:rPr>
              <a:t>TERIMA  KASIH</a:t>
            </a:r>
            <a:endParaRPr lang="en-US" sz="4400" b="1" dirty="0">
              <a:latin typeface="Times New Roman" pitchFamily="18" charset="0"/>
              <a:cs typeface="Times New Roman" pitchFamily="18" charset="0"/>
            </a:endParaRPr>
          </a:p>
        </p:txBody>
      </p:sp>
      <p:sp>
        <p:nvSpPr>
          <p:cNvPr id="3" name="Right Triangle 2"/>
          <p:cNvSpPr/>
          <p:nvPr/>
        </p:nvSpPr>
        <p:spPr>
          <a:xfrm rot="5400000">
            <a:off x="-70598" y="192408"/>
            <a:ext cx="1457781" cy="107296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9511276"/>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1018</TotalTime>
  <Words>1137</Words>
  <Application>Microsoft Office PowerPoint</Application>
  <PresentationFormat>On-screen Show (4:3)</PresentationFormat>
  <Paragraphs>104</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Oriel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ACER</cp:lastModifiedBy>
  <cp:revision>73</cp:revision>
  <dcterms:created xsi:type="dcterms:W3CDTF">2021-12-11T14:16:41Z</dcterms:created>
  <dcterms:modified xsi:type="dcterms:W3CDTF">2022-01-09T15:04:09Z</dcterms:modified>
</cp:coreProperties>
</file>